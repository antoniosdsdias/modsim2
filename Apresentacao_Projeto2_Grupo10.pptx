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Modelo</c:v>
                </c:pt>
              </c:strCache>
            </c:strRef>
          </c:tx>
          <c:spPr>
            <a:ln w="41275">
              <a:solidFill>
                <a:srgbClr val="F2711C"/>
              </a:solidFill>
            </a:ln>
          </c:spPr>
          <c:marker>
            <c:symbol val="none"/>
          </c:marker>
          <c:xVal>
            <c:numRef>
              <c:f>Sheet1!$A$2:$A$91</c:f>
              <c:numCache>
                <c:formatCode>General</c:formatCode>
                <c:ptCount val="9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</c:numCache>
            </c:numRef>
          </c:xVal>
          <c:yVal>
            <c:numRef>
              <c:f>Sheet1!$B$2:$B$91</c:f>
              <c:numCache>
                <c:formatCode>General</c:formatCode>
                <c:ptCount val="90"/>
                <c:pt idx="0">
                  <c:v>20.7</c:v>
                </c:pt>
                <c:pt idx="1">
                  <c:v>22.585475812566685</c:v>
                </c:pt>
                <c:pt idx="2">
                  <c:v>24.3951062284553</c:v>
                </c:pt>
                <c:pt idx="3">
                  <c:v>26.128296165496568</c:v>
                </c:pt>
                <c:pt idx="4">
                  <c:v>27.788274459551868</c:v>
                </c:pt>
                <c:pt idx="5">
                  <c:v>29.378133663993992</c:v>
                </c:pt>
                <c:pt idx="6">
                  <c:v>30.90083579467969</c:v>
                </c:pt>
                <c:pt idx="7">
                  <c:v>32.35921732118952</c:v>
                </c:pt>
                <c:pt idx="8">
                  <c:v>33.75599507572611</c:v>
                </c:pt>
                <c:pt idx="9">
                  <c:v>35.093771559876636</c:v>
                </c:pt>
                <c:pt idx="10">
                  <c:v>36.37503924550296</c:v>
                </c:pt>
                <c:pt idx="11">
                  <c:v>37.602185030326076</c:v>
                </c:pt>
                <c:pt idx="12">
                  <c:v>38.77749496696001</c:v>
                </c:pt>
                <c:pt idx="13">
                  <c:v>39.903158508477446</c:v>
                </c:pt>
                <c:pt idx="14">
                  <c:v>40.98127284003897</c:v>
                </c:pt>
                <c:pt idx="15">
                  <c:v>42.01384651240222</c:v>
                </c:pt>
                <c:pt idx="16">
                  <c:v>43.00280324797232</c:v>
                </c:pt>
                <c:pt idx="17">
                  <c:v>43.94998557109154</c:v>
                </c:pt>
                <c:pt idx="18">
                  <c:v>44.857158015056186</c:v>
                </c:pt>
                <c:pt idx="19">
                  <c:v>45.72601058710477</c:v>
                </c:pt>
                <c:pt idx="20">
                  <c:v>46.55816195925272</c:v>
                </c:pt>
                <c:pt idx="21">
                  <c:v>47.35516244244084</c:v>
                </c:pt>
                <c:pt idx="22">
                  <c:v>48.11849683830918</c:v>
                </c:pt>
                <c:pt idx="23">
                  <c:v>48.849587217387345</c:v>
                </c:pt>
                <c:pt idx="24">
                  <c:v>49.54979565884198</c:v>
                </c:pt>
                <c:pt idx="25">
                  <c:v>50.22042661948687</c:v>
                </c:pt>
                <c:pt idx="26">
                  <c:v>50.862729454025434</c:v>
                </c:pt>
                <c:pt idx="27">
                  <c:v>51.47790078714485</c:v>
                </c:pt>
                <c:pt idx="28">
                  <c:v>52.067086674628335</c:v>
                </c:pt>
                <c:pt idx="29">
                  <c:v>52.63138473272376</c:v>
                </c:pt>
                <c:pt idx="30">
                  <c:v>53.17184625473225</c:v>
                </c:pt>
                <c:pt idx="31">
                  <c:v>53.68947817761515</c:v>
                </c:pt>
                <c:pt idx="32">
                  <c:v>54.18524478442063</c:v>
                </c:pt>
                <c:pt idx="33">
                  <c:v>54.66006975599632</c:v>
                </c:pt>
                <c:pt idx="34">
                  <c:v>55.11483767853565</c:v>
                </c:pt>
                <c:pt idx="35">
                  <c:v>55.550395726155415</c:v>
                </c:pt>
                <c:pt idx="36">
                  <c:v>55.967555406357704</c:v>
                </c:pt>
                <c:pt idx="37">
                  <c:v>56.367093856335785</c:v>
                </c:pt>
                <c:pt idx="38">
                  <c:v>56.749755377479175</c:v>
                </c:pt>
                <c:pt idx="39">
                  <c:v>57.11625293573947</c:v>
                </c:pt>
                <c:pt idx="40">
                  <c:v>57.46726926538757</c:v>
                </c:pt>
                <c:pt idx="41">
                  <c:v>57.80345832371933</c:v>
                </c:pt>
                <c:pt idx="42">
                  <c:v>58.12544644261436</c:v>
                </c:pt>
                <c:pt idx="43">
                  <c:v>58.43383340867081</c:v>
                </c:pt>
                <c:pt idx="44">
                  <c:v>58.72919382702546</c:v>
                </c:pt>
                <c:pt idx="45">
                  <c:v>59.01207789474654</c:v>
                </c:pt>
                <c:pt idx="46">
                  <c:v>59.28301266849482</c:v>
                </c:pt>
                <c:pt idx="47">
                  <c:v>59.54250291696215</c:v>
                </c:pt>
                <c:pt idx="48">
                  <c:v>59.79103200794877</c:v>
                </c:pt>
                <c:pt idx="49">
                  <c:v>60.0290630409615</c:v>
                </c:pt>
                <c:pt idx="50">
                  <c:v>60.257039376064355</c:v>
                </c:pt>
                <c:pt idx="51">
                  <c:v>60.475385805297776</c:v>
                </c:pt>
                <c:pt idx="52">
                  <c:v>60.68450904603286</c:v>
                </c:pt>
                <c:pt idx="53">
                  <c:v>60.88479872857243</c:v>
                </c:pt>
                <c:pt idx="54">
                  <c:v>61.07662798778218</c:v>
                </c:pt>
                <c:pt idx="55">
                  <c:v>61.260354168975425</c:v>
                </c:pt>
                <c:pt idx="56">
                  <c:v>61.43631961045256</c:v>
                </c:pt>
                <c:pt idx="57">
                  <c:v>61.60485207053858</c:v>
                </c:pt>
                <c:pt idx="58">
                  <c:v>61.76626557380605</c:v>
                </c:pt>
                <c:pt idx="59">
                  <c:v>61.9208607591028</c:v>
                </c:pt>
                <c:pt idx="60">
                  <c:v>62.068925715223756</c:v>
                </c:pt>
                <c:pt idx="61">
                  <c:v>62.21073620840695</c:v>
                </c:pt>
                <c:pt idx="62">
                  <c:v>62.3465565296657</c:v>
                </c:pt>
                <c:pt idx="63">
                  <c:v>62.476639626314736</c:v>
                </c:pt>
                <c:pt idx="64">
                  <c:v>62.60122793337413</c:v>
                </c:pt>
                <c:pt idx="65">
                  <c:v>62.72055348842948</c:v>
                </c:pt>
                <c:pt idx="66">
                  <c:v>62.8348386599901</c:v>
                </c:pt>
                <c:pt idx="67">
                  <c:v>62.944296270950055</c:v>
                </c:pt>
                <c:pt idx="68">
                  <c:v>63.049130298216426</c:v>
                </c:pt>
                <c:pt idx="69">
                  <c:v>63.14953605084918</c:v>
                </c:pt>
                <c:pt idx="70">
                  <c:v>63.245700662657434</c:v>
                </c:pt>
                <c:pt idx="71">
                  <c:v>63.33780313741093</c:v>
                </c:pt>
                <c:pt idx="72">
                  <c:v>63.426015078502815</c:v>
                </c:pt>
                <c:pt idx="73">
                  <c:v>63.51050092729485</c:v>
                </c:pt>
                <c:pt idx="74">
                  <c:v>63.591418094104995</c:v>
                </c:pt>
                <c:pt idx="75">
                  <c:v>63.66891718445973</c:v>
                </c:pt>
                <c:pt idx="76">
                  <c:v>63.743142527420375</c:v>
                </c:pt>
                <c:pt idx="77">
                  <c:v>63.81423244918464</c:v>
                </c:pt>
                <c:pt idx="78">
                  <c:v>63.88231961492358</c:v>
                </c:pt>
                <c:pt idx="79">
                  <c:v>63.94753086377993</c:v>
                </c:pt>
                <c:pt idx="80">
                  <c:v>64.0099874671585</c:v>
                </c:pt>
                <c:pt idx="81">
                  <c:v>64.06980576941451</c:v>
                </c:pt>
                <c:pt idx="82">
                  <c:v>64.12709728460867</c:v>
                </c:pt>
                <c:pt idx="83">
                  <c:v>64.18196879715407</c:v>
                </c:pt>
                <c:pt idx="84">
                  <c:v>64.2345225360546</c:v>
                </c:pt>
                <c:pt idx="85">
                  <c:v>64.28485635958772</c:v>
                </c:pt>
                <c:pt idx="86">
                  <c:v>64.33306402478648</c:v>
                </c:pt>
                <c:pt idx="87">
                  <c:v>64.37923534648156</c:v>
                </c:pt>
                <c:pt idx="88">
                  <c:v>64.42345652535612</c:v>
                </c:pt>
                <c:pt idx="89">
                  <c:v>64.46580969783868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9F0-4812-A625-16B24E764BBD}"/>
            </c:ext>
          </c:extLst>
        </c:ser>
        <c:ser>
          <c:idx val="1"/>
          <c:order val="1"/>
          <c:tx>
            <c:strRef>
              <c:f>Sheet1!$B$93</c:f>
              <c:strCache>
                <c:ptCount val="1"/>
                <c:pt idx="0">
                  <c:v>Experimento (P = 200 W)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8"/>
            <c:spPr>
              <a:solidFill>
                <a:srgbClr val="1C7ED6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Sheet1!$A$94:$A$123</c:f>
              <c:numCache>
                <c:formatCode>General</c:formatCode>
                <c:ptCount val="30"/>
                <c:pt idx="0">
                  <c:v>2.0</c:v>
                </c:pt>
                <c:pt idx="1">
                  <c:v>5.0</c:v>
                </c:pt>
                <c:pt idx="2">
                  <c:v>8.0</c:v>
                </c:pt>
                <c:pt idx="3">
                  <c:v>11.0</c:v>
                </c:pt>
                <c:pt idx="4">
                  <c:v>14.0</c:v>
                </c:pt>
                <c:pt idx="5">
                  <c:v>17.0</c:v>
                </c:pt>
                <c:pt idx="6">
                  <c:v>20.0</c:v>
                </c:pt>
                <c:pt idx="7">
                  <c:v>23.0</c:v>
                </c:pt>
                <c:pt idx="8">
                  <c:v>26.0</c:v>
                </c:pt>
                <c:pt idx="9">
                  <c:v>29.0</c:v>
                </c:pt>
                <c:pt idx="10">
                  <c:v>32.0</c:v>
                </c:pt>
                <c:pt idx="11">
                  <c:v>35.0</c:v>
                </c:pt>
                <c:pt idx="12">
                  <c:v>38.0</c:v>
                </c:pt>
                <c:pt idx="13">
                  <c:v>41.0</c:v>
                </c:pt>
                <c:pt idx="14">
                  <c:v>44.0</c:v>
                </c:pt>
                <c:pt idx="15">
                  <c:v>47.0</c:v>
                </c:pt>
                <c:pt idx="16">
                  <c:v>50.0</c:v>
                </c:pt>
                <c:pt idx="17">
                  <c:v>53.0</c:v>
                </c:pt>
                <c:pt idx="18">
                  <c:v>56.0</c:v>
                </c:pt>
                <c:pt idx="19">
                  <c:v>59.0</c:v>
                </c:pt>
                <c:pt idx="20">
                  <c:v>62.0</c:v>
                </c:pt>
                <c:pt idx="21">
                  <c:v>65.0</c:v>
                </c:pt>
                <c:pt idx="22">
                  <c:v>68.0</c:v>
                </c:pt>
                <c:pt idx="23">
                  <c:v>71.0</c:v>
                </c:pt>
                <c:pt idx="24">
                  <c:v>74.0</c:v>
                </c:pt>
                <c:pt idx="25">
                  <c:v>77.0</c:v>
                </c:pt>
                <c:pt idx="26">
                  <c:v>80.0</c:v>
                </c:pt>
                <c:pt idx="27">
                  <c:v>83.0</c:v>
                </c:pt>
                <c:pt idx="28">
                  <c:v>86.0</c:v>
                </c:pt>
                <c:pt idx="29">
                  <c:v>89.0</c:v>
                </c:pt>
              </c:numCache>
            </c:numRef>
          </c:xVal>
          <c:yVal>
            <c:numRef>
              <c:f>Sheet1!$B$94:$B$123</c:f>
              <c:numCache>
                <c:formatCode>General</c:formatCode>
                <c:ptCount val="30"/>
                <c:pt idx="0">
                  <c:v>24.8</c:v>
                </c:pt>
                <c:pt idx="1">
                  <c:v>29.3</c:v>
                </c:pt>
                <c:pt idx="2">
                  <c:v>32.1</c:v>
                </c:pt>
                <c:pt idx="3">
                  <c:v>35.2</c:v>
                </c:pt>
                <c:pt idx="4">
                  <c:v>39.0</c:v>
                </c:pt>
                <c:pt idx="5">
                  <c:v>41.2</c:v>
                </c:pt>
                <c:pt idx="6">
                  <c:v>44.0</c:v>
                </c:pt>
                <c:pt idx="7">
                  <c:v>47.5</c:v>
                </c:pt>
                <c:pt idx="8">
                  <c:v>50.1</c:v>
                </c:pt>
                <c:pt idx="9">
                  <c:v>53.3</c:v>
                </c:pt>
                <c:pt idx="10">
                  <c:v>56.2</c:v>
                </c:pt>
                <c:pt idx="11">
                  <c:v>57.2</c:v>
                </c:pt>
                <c:pt idx="12">
                  <c:v>58.4</c:v>
                </c:pt>
                <c:pt idx="13">
                  <c:v>59.7</c:v>
                </c:pt>
                <c:pt idx="14">
                  <c:v>60.2</c:v>
                </c:pt>
                <c:pt idx="15">
                  <c:v>61.0</c:v>
                </c:pt>
                <c:pt idx="16">
                  <c:v>61.7</c:v>
                </c:pt>
                <c:pt idx="17">
                  <c:v>62.1</c:v>
                </c:pt>
                <c:pt idx="18">
                  <c:v>62.8</c:v>
                </c:pt>
                <c:pt idx="19">
                  <c:v>63.3</c:v>
                </c:pt>
                <c:pt idx="20">
                  <c:v>63.9</c:v>
                </c:pt>
                <c:pt idx="21">
                  <c:v>64.1</c:v>
                </c:pt>
                <c:pt idx="22">
                  <c:v>64.4</c:v>
                </c:pt>
                <c:pt idx="23">
                  <c:v>64.6</c:v>
                </c:pt>
                <c:pt idx="24">
                  <c:v>64.9</c:v>
                </c:pt>
                <c:pt idx="25">
                  <c:v>65.0</c:v>
                </c:pt>
                <c:pt idx="26">
                  <c:v>65.2</c:v>
                </c:pt>
                <c:pt idx="27">
                  <c:v>65.3</c:v>
                </c:pt>
                <c:pt idx="28">
                  <c:v>65.7</c:v>
                </c:pt>
                <c:pt idx="29">
                  <c:v>65.9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9F0-4812-A625-16B24E764B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9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pt-BR" sz="1300" b="0">
                    <a:solidFill>
                      <a:srgbClr val="5B6170"/>
                    </a:solidFill>
                    <a:latin typeface="Calibri"/>
                  </a:rPr>
                  <a:t>Tempo de aquecimento (min)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E6E8EC"/>
            </a:solidFill>
          </a:ln>
        </c:spPr>
        <c:txPr>
          <a:bodyPr/>
          <a:lstStyle/>
          <a:p>
            <a:pPr>
              <a:defRPr sz="1200">
                <a:solidFill>
                  <a:srgbClr val="5B6170"/>
                </a:solidFill>
              </a:defRPr>
            </a:pPr>
            <a:endParaRPr lang="pt-BR"/>
          </a:p>
        </c:txPr>
        <c:crossAx val="-2129643912"/>
        <c:crosses val="autoZero"/>
        <c:crossBetween val="midCat"/>
        <c:majorUnit val="10"/>
      </c:valAx>
      <c:valAx>
        <c:axId val="-2129643912"/>
        <c:scaling>
          <c:orientation val="minMax"/>
          <c:max val="70"/>
          <c:min val="20"/>
        </c:scaling>
        <c:delete val="0"/>
        <c:axPos val="l"/>
        <c:majorGridlines>
          <c:spPr>
            <a:ln>
              <a:solidFill>
                <a:srgbClr val="E6E8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pt-BR" sz="1300" b="0">
                    <a:solidFill>
                      <a:srgbClr val="5B6170"/>
                    </a:solidFill>
                    <a:latin typeface="Calibri"/>
                  </a:rPr>
                  <a:t>Temperatura da água (°C)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E6E8EC"/>
            </a:solidFill>
          </a:ln>
        </c:spPr>
        <c:txPr>
          <a:bodyPr/>
          <a:lstStyle/>
          <a:p>
            <a:pPr>
              <a:defRPr sz="1200">
                <a:solidFill>
                  <a:srgbClr val="5B6170"/>
                </a:solidFill>
              </a:defRPr>
            </a:pPr>
            <a:endParaRPr lang="pt-BR"/>
          </a:p>
        </c:txPr>
        <c:crossAx val="-2128940872"/>
        <c:crosses val="autoZero"/>
        <c:crossBetween val="midCat"/>
        <c:majorUnit val="10"/>
      </c:valAx>
    </c:plotArea>
    <c:legend>
      <c:legendPos val="t"/>
      <c:overlay val="0"/>
      <c:txPr>
        <a:bodyPr/>
        <a:lstStyle/>
        <a:p>
          <a:pPr>
            <a:defRPr sz="1300">
              <a:solidFill>
                <a:srgbClr val="14171F"/>
              </a:solidFill>
            </a:defRPr>
          </a:pPr>
          <a:endParaRPr lang="pt-BR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para 1,1 kg de água ferver</c:v>
                </c:pt>
              </c:strCache>
            </c:strRef>
          </c:tx>
          <c:spPr>
            <a:ln w="34925">
              <a:solidFill>
                <a:srgbClr val="F2711C"/>
              </a:solidFill>
            </a:ln>
          </c:spPr>
          <c:marker>
            <c:symbol val="circle"/>
            <c:size val="6"/>
            <c:spPr>
              <a:solidFill>
                <a:srgbClr val="F2711C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Sheet1!$A$2:$A$64</c:f>
              <c:numCache>
                <c:formatCode>General</c:formatCode>
                <c:ptCount val="63"/>
                <c:pt idx="0">
                  <c:v>400.0</c:v>
                </c:pt>
                <c:pt idx="1">
                  <c:v>450.0</c:v>
                </c:pt>
                <c:pt idx="2">
                  <c:v>500.0</c:v>
                </c:pt>
                <c:pt idx="3">
                  <c:v>550.0</c:v>
                </c:pt>
                <c:pt idx="4">
                  <c:v>600.0</c:v>
                </c:pt>
                <c:pt idx="5">
                  <c:v>650.0</c:v>
                </c:pt>
                <c:pt idx="6">
                  <c:v>700.0</c:v>
                </c:pt>
                <c:pt idx="7">
                  <c:v>750.0</c:v>
                </c:pt>
                <c:pt idx="8">
                  <c:v>800.0</c:v>
                </c:pt>
                <c:pt idx="9">
                  <c:v>850.0</c:v>
                </c:pt>
                <c:pt idx="10">
                  <c:v>900.0</c:v>
                </c:pt>
                <c:pt idx="11">
                  <c:v>950.0</c:v>
                </c:pt>
                <c:pt idx="12">
                  <c:v>1000.0</c:v>
                </c:pt>
                <c:pt idx="13">
                  <c:v>1050.0</c:v>
                </c:pt>
                <c:pt idx="14">
                  <c:v>1100.0</c:v>
                </c:pt>
                <c:pt idx="15">
                  <c:v>1150.0</c:v>
                </c:pt>
                <c:pt idx="16">
                  <c:v>1200.0</c:v>
                </c:pt>
                <c:pt idx="17">
                  <c:v>1250.0</c:v>
                </c:pt>
                <c:pt idx="18">
                  <c:v>1300.0</c:v>
                </c:pt>
                <c:pt idx="19">
                  <c:v>1350.0</c:v>
                </c:pt>
                <c:pt idx="20">
                  <c:v>1400.0</c:v>
                </c:pt>
                <c:pt idx="21">
                  <c:v>1450.0</c:v>
                </c:pt>
                <c:pt idx="22">
                  <c:v>1500.0</c:v>
                </c:pt>
                <c:pt idx="23">
                  <c:v>1550.0</c:v>
                </c:pt>
                <c:pt idx="24">
                  <c:v>1600.0</c:v>
                </c:pt>
                <c:pt idx="25">
                  <c:v>1650.0</c:v>
                </c:pt>
                <c:pt idx="26">
                  <c:v>1700.0</c:v>
                </c:pt>
                <c:pt idx="27">
                  <c:v>1750.0</c:v>
                </c:pt>
                <c:pt idx="28">
                  <c:v>1800.0</c:v>
                </c:pt>
                <c:pt idx="29">
                  <c:v>1850.0</c:v>
                </c:pt>
                <c:pt idx="30">
                  <c:v>1900.0</c:v>
                </c:pt>
                <c:pt idx="31">
                  <c:v>1950.0</c:v>
                </c:pt>
                <c:pt idx="32">
                  <c:v>2000.0</c:v>
                </c:pt>
                <c:pt idx="33">
                  <c:v>2050.0</c:v>
                </c:pt>
                <c:pt idx="34">
                  <c:v>2100.0</c:v>
                </c:pt>
                <c:pt idx="35">
                  <c:v>2150.0</c:v>
                </c:pt>
                <c:pt idx="36">
                  <c:v>2200.0</c:v>
                </c:pt>
                <c:pt idx="37">
                  <c:v>2250.0</c:v>
                </c:pt>
                <c:pt idx="38">
                  <c:v>2300.0</c:v>
                </c:pt>
                <c:pt idx="39">
                  <c:v>2350.0</c:v>
                </c:pt>
                <c:pt idx="40">
                  <c:v>2400.0</c:v>
                </c:pt>
                <c:pt idx="41">
                  <c:v>2450.0</c:v>
                </c:pt>
                <c:pt idx="42">
                  <c:v>2500.0</c:v>
                </c:pt>
                <c:pt idx="43">
                  <c:v>2550.0</c:v>
                </c:pt>
                <c:pt idx="44">
                  <c:v>2600.0</c:v>
                </c:pt>
                <c:pt idx="45">
                  <c:v>2650.0</c:v>
                </c:pt>
                <c:pt idx="46">
                  <c:v>2700.0</c:v>
                </c:pt>
                <c:pt idx="47">
                  <c:v>2750.0</c:v>
                </c:pt>
                <c:pt idx="48">
                  <c:v>2800.0</c:v>
                </c:pt>
                <c:pt idx="49">
                  <c:v>2850.0</c:v>
                </c:pt>
                <c:pt idx="50">
                  <c:v>2900.0</c:v>
                </c:pt>
                <c:pt idx="51">
                  <c:v>2950.0</c:v>
                </c:pt>
                <c:pt idx="52">
                  <c:v>3000.0</c:v>
                </c:pt>
                <c:pt idx="53">
                  <c:v>3050.0</c:v>
                </c:pt>
                <c:pt idx="54">
                  <c:v>3100.0</c:v>
                </c:pt>
                <c:pt idx="55">
                  <c:v>3150.0</c:v>
                </c:pt>
                <c:pt idx="56">
                  <c:v>3200.0</c:v>
                </c:pt>
                <c:pt idx="57">
                  <c:v>3250.0</c:v>
                </c:pt>
                <c:pt idx="58">
                  <c:v>3300.0</c:v>
                </c:pt>
                <c:pt idx="59">
                  <c:v>3350.0</c:v>
                </c:pt>
                <c:pt idx="60">
                  <c:v>3400.0</c:v>
                </c:pt>
                <c:pt idx="61">
                  <c:v>3450.0</c:v>
                </c:pt>
                <c:pt idx="62">
                  <c:v>3500.0</c:v>
                </c:pt>
              </c:numCache>
            </c:numRef>
          </c:xVal>
          <c:yVal>
            <c:numRef>
              <c:f>Sheet1!$B$2:$B$64</c:f>
              <c:numCache>
                <c:formatCode>General</c:formatCode>
                <c:ptCount val="63"/>
                <c:pt idx="0">
                  <c:v>47.11666666666667</c:v>
                </c:pt>
                <c:pt idx="1">
                  <c:v>34.13333333333333</c:v>
                </c:pt>
                <c:pt idx="2">
                  <c:v>27.333333333333332</c:v>
                </c:pt>
                <c:pt idx="3">
                  <c:v>22.966666666666665</c:v>
                </c:pt>
                <c:pt idx="4">
                  <c:v>19.866666666666667</c:v>
                </c:pt>
                <c:pt idx="5">
                  <c:v>17.533333333333335</c:v>
                </c:pt>
                <c:pt idx="6">
                  <c:v>15.716666666666667</c:v>
                </c:pt>
                <c:pt idx="7">
                  <c:v>14.25</c:v>
                </c:pt>
                <c:pt idx="8">
                  <c:v>13.05</c:v>
                </c:pt>
                <c:pt idx="9">
                  <c:v>12.033333333333333</c:v>
                </c:pt>
                <c:pt idx="10">
                  <c:v>11.166666666666666</c:v>
                </c:pt>
                <c:pt idx="11">
                  <c:v>10.416666666666666</c:v>
                </c:pt>
                <c:pt idx="12">
                  <c:v>9.766666666666667</c:v>
                </c:pt>
                <c:pt idx="13">
                  <c:v>9.183333333333334</c:v>
                </c:pt>
                <c:pt idx="14">
                  <c:v>8.683333333333334</c:v>
                </c:pt>
                <c:pt idx="15">
                  <c:v>8.216666666666667</c:v>
                </c:pt>
                <c:pt idx="16">
                  <c:v>7.816666666666666</c:v>
                </c:pt>
                <c:pt idx="17">
                  <c:v>7.45</c:v>
                </c:pt>
                <c:pt idx="18">
                  <c:v>7.1</c:v>
                </c:pt>
                <c:pt idx="19">
                  <c:v>6.8</c:v>
                </c:pt>
                <c:pt idx="20">
                  <c:v>6.516666666666667</c:v>
                </c:pt>
                <c:pt idx="21">
                  <c:v>6.25</c:v>
                </c:pt>
                <c:pt idx="22">
                  <c:v>6.016666666666667</c:v>
                </c:pt>
                <c:pt idx="23">
                  <c:v>5.8</c:v>
                </c:pt>
                <c:pt idx="24">
                  <c:v>5.6</c:v>
                </c:pt>
                <c:pt idx="25">
                  <c:v>5.4</c:v>
                </c:pt>
                <c:pt idx="26">
                  <c:v>5.216666666666667</c:v>
                </c:pt>
                <c:pt idx="27">
                  <c:v>5.05</c:v>
                </c:pt>
                <c:pt idx="28">
                  <c:v>4.9</c:v>
                </c:pt>
                <c:pt idx="29">
                  <c:v>4.75</c:v>
                </c:pt>
                <c:pt idx="30">
                  <c:v>4.616666666666666</c:v>
                </c:pt>
                <c:pt idx="31">
                  <c:v>4.483333333333333</c:v>
                </c:pt>
                <c:pt idx="32">
                  <c:v>4.366666666666666</c:v>
                </c:pt>
                <c:pt idx="33">
                  <c:v>4.25</c:v>
                </c:pt>
                <c:pt idx="34">
                  <c:v>4.133333333333334</c:v>
                </c:pt>
                <c:pt idx="35">
                  <c:v>4.033333333333333</c:v>
                </c:pt>
                <c:pt idx="36">
                  <c:v>3.933333333333333</c:v>
                </c:pt>
                <c:pt idx="37">
                  <c:v>3.8333333333333335</c:v>
                </c:pt>
                <c:pt idx="38">
                  <c:v>3.7333333333333334</c:v>
                </c:pt>
                <c:pt idx="39">
                  <c:v>3.65</c:v>
                </c:pt>
                <c:pt idx="40">
                  <c:v>3.566666666666667</c:v>
                </c:pt>
                <c:pt idx="41">
                  <c:v>3.5</c:v>
                </c:pt>
                <c:pt idx="42">
                  <c:v>3.4166666666666665</c:v>
                </c:pt>
                <c:pt idx="43">
                  <c:v>3.35</c:v>
                </c:pt>
                <c:pt idx="44">
                  <c:v>3.283333333333333</c:v>
                </c:pt>
                <c:pt idx="45">
                  <c:v>3.216666666666667</c:v>
                </c:pt>
                <c:pt idx="46">
                  <c:v>3.15</c:v>
                </c:pt>
                <c:pt idx="47">
                  <c:v>3.0833333333333335</c:v>
                </c:pt>
                <c:pt idx="48">
                  <c:v>3.033333333333333</c:v>
                </c:pt>
                <c:pt idx="49">
                  <c:v>2.966666666666667</c:v>
                </c:pt>
                <c:pt idx="50">
                  <c:v>2.9166666666666665</c:v>
                </c:pt>
                <c:pt idx="51">
                  <c:v>2.8666666666666667</c:v>
                </c:pt>
                <c:pt idx="52">
                  <c:v>2.816666666666667</c:v>
                </c:pt>
                <c:pt idx="53">
                  <c:v>2.7666666666666666</c:v>
                </c:pt>
                <c:pt idx="54">
                  <c:v>2.716666666666667</c:v>
                </c:pt>
                <c:pt idx="55">
                  <c:v>2.6666666666666665</c:v>
                </c:pt>
                <c:pt idx="56">
                  <c:v>2.6333333333333333</c:v>
                </c:pt>
                <c:pt idx="57">
                  <c:v>2.5833333333333335</c:v>
                </c:pt>
                <c:pt idx="58">
                  <c:v>2.55</c:v>
                </c:pt>
                <c:pt idx="59">
                  <c:v>2.5</c:v>
                </c:pt>
                <c:pt idx="60">
                  <c:v>2.466666666666667</c:v>
                </c:pt>
                <c:pt idx="61">
                  <c:v>2.433333333333333</c:v>
                </c:pt>
                <c:pt idx="62">
                  <c:v>2.3833333333333333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8C1-4021-9260-375CC36474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35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pt-BR" sz="1300" b="0">
                    <a:solidFill>
                      <a:srgbClr val="5B6170"/>
                    </a:solidFill>
                    <a:latin typeface="Calibri"/>
                  </a:rPr>
                  <a:t>Potência elétrica do fogão (W)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E6E8EC"/>
            </a:solidFill>
          </a:ln>
        </c:spPr>
        <c:txPr>
          <a:bodyPr/>
          <a:lstStyle/>
          <a:p>
            <a:pPr>
              <a:defRPr sz="1200">
                <a:solidFill>
                  <a:srgbClr val="5B6170"/>
                </a:solidFill>
              </a:defRPr>
            </a:pPr>
            <a:endParaRPr lang="pt-BR"/>
          </a:p>
        </c:txPr>
        <c:crossAx val="-2129643912"/>
        <c:crosses val="autoZero"/>
        <c:crossBetween val="midCat"/>
        <c:majorUnit val="500"/>
      </c:valAx>
      <c:valAx>
        <c:axId val="-2129643912"/>
        <c:scaling>
          <c:orientation val="minMax"/>
          <c:max val="50"/>
          <c:min val="0"/>
        </c:scaling>
        <c:delete val="0"/>
        <c:axPos val="l"/>
        <c:majorGridlines>
          <c:spPr>
            <a:ln>
              <a:solidFill>
                <a:srgbClr val="E6E8EC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pt-BR" sz="1300" b="0">
                    <a:solidFill>
                      <a:srgbClr val="5B6170"/>
                    </a:solidFill>
                    <a:latin typeface="Calibri"/>
                  </a:rPr>
                  <a:t>Tempo até ferver (min)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E6E8EC"/>
            </a:solidFill>
          </a:ln>
        </c:spPr>
        <c:txPr>
          <a:bodyPr/>
          <a:lstStyle/>
          <a:p>
            <a:pPr>
              <a:defRPr sz="1200">
                <a:solidFill>
                  <a:srgbClr val="5B6170"/>
                </a:solidFill>
              </a:defRPr>
            </a:pPr>
            <a:endParaRPr lang="pt-BR"/>
          </a:p>
        </c:txPr>
        <c:crossAx val="-2128940872"/>
        <c:crosses val="autoZero"/>
        <c:crossBetween val="midCat"/>
        <c:majorUnit val="10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5B61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314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o grupo e o tema: uma panela com água num fogão de indução. A pergunta é quanto tempo a água leva para ferver, dependendo da potência do fogão.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Contexto: o fogão de indução aquece o próprio aço da panela. A panela está sem tampa, então perde calor para o ar. No experimento usamos o modo 150 °C, em que o fogão liga e desliga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Pela 1ª Lei, a variação de temperatura de cada estoque é o calor que entra menos o que sai, dividido pela capacidade térmica. Os fluxos são escritos com resistências térmicas, como na latinha da Aula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Dois estoques: a energia interna da panela e a da água. Q1 é o calor da indução, Q2 vai da panela para a água, Q3 e Q4 são as perdas para o ar pelas paredes e pelo topo.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dimensões, a massa de água e a temperatura ambiente foram medidas. A massa da panela foi calculada pelo volume de aço. Ajustamos dois valores: a potência média, porque o fogão liga e desliga, e o h do ar, que também carrega as perdas por evaporação e radiação.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 200 W de média, a água não ferveu: estabilizou perto de 66 °C, quando o calor que entra fica igual ao que sai. O modelo acompanha os dados com erro médio de 2,8 %. Corrigimos o tempo porque o cronômetro começou 7 minutos antes do aquecimento.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é o gráfico conclusivo: rodamos o odeint dezenas de vezes, uma para cada potência de 100 a 3500 W. Abaixo de cerca de 400 W a água não ferve em 2 horas, porque as perdas igualam o calor recebido. O tempo cai rápido até uns 2000 W; depois o ganho é cada vez menor: de 2000 para 3500 W só cai de 4,4 para 2,4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Conclusões: com a panela sem tampa, existe uma potência mínima para ferver; acima de uns 2000 W, aumentar a potência ajuda cada vez menos (de 4,4 para 2,4 min até 3500 W). O modelo reproduz o experimento com 2,8 % de erro médio. Limitação: evaporação e radiação estão embutidas no h do 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inel do fogão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nel 1"/>
          <p:cNvSpPr/>
          <p:nvPr/>
        </p:nvSpPr>
        <p:spPr>
          <a:xfrm>
            <a:off x="8796528" y="2926080"/>
            <a:ext cx="1005840" cy="1005840"/>
          </a:xfrm>
          <a:prstGeom prst="ellipse">
            <a:avLst/>
          </a:prstGeom>
          <a:noFill/>
          <a:ln w="28575">
            <a:solidFill>
              <a:srgbClr val="F2711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el 2"/>
          <p:cNvSpPr/>
          <p:nvPr/>
        </p:nvSpPr>
        <p:spPr>
          <a:xfrm>
            <a:off x="8385048" y="2514600"/>
            <a:ext cx="1828800" cy="1828800"/>
          </a:xfrm>
          <a:prstGeom prst="ellipse">
            <a:avLst/>
          </a:prstGeom>
          <a:noFill/>
          <a:ln w="28575">
            <a:solidFill>
              <a:srgbClr val="F2711C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el 3"/>
          <p:cNvSpPr/>
          <p:nvPr/>
        </p:nvSpPr>
        <p:spPr>
          <a:xfrm>
            <a:off x="7973568" y="2103120"/>
            <a:ext cx="2651760" cy="2651760"/>
          </a:xfrm>
          <a:prstGeom prst="ellipse">
            <a:avLst/>
          </a:prstGeom>
          <a:noFill/>
          <a:ln w="28575">
            <a:solidFill>
              <a:srgbClr val="F2711C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el 4"/>
          <p:cNvSpPr/>
          <p:nvPr/>
        </p:nvSpPr>
        <p:spPr>
          <a:xfrm>
            <a:off x="7562088" y="1691640"/>
            <a:ext cx="3474720" cy="3474720"/>
          </a:xfrm>
          <a:prstGeom prst="ellipse">
            <a:avLst/>
          </a:prstGeom>
          <a:noFill/>
          <a:ln w="28575">
            <a:solidFill>
              <a:srgbClr val="F2711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nel 5"/>
          <p:cNvSpPr/>
          <p:nvPr/>
        </p:nvSpPr>
        <p:spPr>
          <a:xfrm>
            <a:off x="7150608" y="1280160"/>
            <a:ext cx="4297680" cy="4297680"/>
          </a:xfrm>
          <a:prstGeom prst="ellipse">
            <a:avLst/>
          </a:prstGeom>
          <a:noFill/>
          <a:ln w="28575">
            <a:solidFill>
              <a:srgbClr val="F2711C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nel 6"/>
          <p:cNvSpPr/>
          <p:nvPr/>
        </p:nvSpPr>
        <p:spPr>
          <a:xfrm>
            <a:off x="6739128" y="868680"/>
            <a:ext cx="5120640" cy="5120640"/>
          </a:xfrm>
          <a:prstGeom prst="ellipse">
            <a:avLst/>
          </a:prstGeom>
          <a:noFill/>
          <a:ln w="28575">
            <a:solidFill>
              <a:srgbClr val="F2711C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entro da bobina"/>
          <p:cNvSpPr/>
          <p:nvPr/>
        </p:nvSpPr>
        <p:spPr>
          <a:xfrm>
            <a:off x="8796528" y="2926080"/>
            <a:ext cx="1005840" cy="1005840"/>
          </a:xfrm>
          <a:prstGeom prst="ellipse">
            <a:avLst/>
          </a:prstGeom>
          <a:solidFill>
            <a:srgbClr val="F2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2711C"/>
                </a:solidFill>
                <a:latin typeface="Calibri"/>
              </a:rPr>
              <a:t>PROJETO 2 — TERMODINÂMICA</a:t>
            </a:r>
          </a:p>
        </p:txBody>
      </p:sp>
      <p:sp>
        <p:nvSpPr>
          <p:cNvPr id="11" name="Título"/>
          <p:cNvSpPr txBox="1"/>
          <p:nvPr/>
        </p:nvSpPr>
        <p:spPr>
          <a:xfrm>
            <a:off x="685800" y="2194560"/>
            <a:ext cx="54864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2200" b="1" dirty="0">
                <a:solidFill>
                  <a:srgbClr val="F2711C"/>
                </a:solidFill>
              </a:rPr>
              <a:t>Pergunta</a:t>
            </a:r>
          </a:p>
          <a:p>
            <a:pPr>
              <a:spcBef>
                <a:spcPts val="600"/>
              </a:spcBef>
            </a:pPr>
            <a:r>
              <a:rPr lang="pt-BR" sz="3200" b="1" dirty="0">
                <a:solidFill>
                  <a:srgbClr val="14171F"/>
                </a:solidFill>
              </a:rPr>
              <a:t>Quanto tempo 1,1 kg de água leva para ferver em função da potência do fogão?</a:t>
            </a:r>
          </a:p>
        </p:txBody>
      </p:sp>
      <p:sp>
        <p:nvSpPr>
          <p:cNvPr id="13" name="Integrantes"/>
          <p:cNvSpPr txBox="1"/>
          <p:nvPr/>
        </p:nvSpPr>
        <p:spPr>
          <a:xfrm>
            <a:off x="685800" y="525780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4171F"/>
                </a:solidFill>
                <a:latin typeface="Calibri"/>
              </a:rPr>
              <a:t>Grupo 10: </a:t>
            </a:r>
            <a:r>
              <a:rPr sz="1400" b="0" i="0">
                <a:solidFill>
                  <a:srgbClr val="5B6170"/>
                </a:solidFill>
                <a:latin typeface="Calibri"/>
              </a:rPr>
              <a:t>Antonio Dias, Marcos Rodrigues e Pedro Toscano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5B6170"/>
                </a:solidFill>
                <a:latin typeface="Calibri"/>
              </a:rPr>
              <a:t>Modelagem e Simulação do Mundo Físico — Insper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ótulo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2711C"/>
                </a:solidFill>
                <a:latin typeface="Calibri"/>
              </a:rPr>
              <a:t>PERGUNTA E CONTEXTO</a:t>
            </a:r>
          </a:p>
        </p:txBody>
      </p:sp>
      <p:sp>
        <p:nvSpPr>
          <p:cNvPr id="14" name="Moldura do esquema"/>
          <p:cNvSpPr/>
          <p:nvPr/>
        </p:nvSpPr>
        <p:spPr>
          <a:xfrm>
            <a:off x="548640" y="1417320"/>
            <a:ext cx="726948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Esquema físico" descr="esquema_fis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554480"/>
            <a:ext cx="6766560" cy="4736592"/>
          </a:xfrm>
          <a:prstGeom prst="rect">
            <a:avLst/>
          </a:prstGeom>
        </p:spPr>
      </p:pic>
      <p:sp>
        <p:nvSpPr>
          <p:cNvPr id="19" name="Cartão do rendimento"/>
          <p:cNvSpPr/>
          <p:nvPr/>
        </p:nvSpPr>
        <p:spPr>
          <a:xfrm>
            <a:off x="8183879" y="278892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29260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F2711C"/>
                </a:solidFill>
                <a:latin typeface="Calibri"/>
              </a:rPr>
              <a:t>85 %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88620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170"/>
                </a:solidFill>
                <a:latin typeface="Calibri"/>
              </a:rPr>
              <a:t>da energia elétrica vira calor na panela (rendimento típico da indução)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>
                <a:solidFill>
                  <a:srgbClr val="14171F"/>
                </a:solidFill>
                <a:latin typeface="Calibri"/>
              </a:rPr>
              <a:t>Esquema físico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2711C"/>
                </a:solidFill>
                <a:latin typeface="Calibri"/>
              </a:rPr>
              <a:t>MODELO E EQUAÇÕES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4171F"/>
                </a:solidFill>
                <a:latin typeface="Calibri"/>
              </a:rPr>
              <a:t>Equações e resistências térmicas</a:t>
            </a:r>
          </a:p>
        </p:txBody>
      </p:sp>
      <p:sp>
        <p:nvSpPr>
          <p:cNvPr id="4" name="Moldura dos circuitos"/>
          <p:cNvSpPr/>
          <p:nvPr/>
        </p:nvSpPr>
        <p:spPr>
          <a:xfrm>
            <a:off x="548640" y="1463040"/>
            <a:ext cx="603504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Circuitos térmicos" descr="circuitos_termic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67" y="1572768"/>
            <a:ext cx="5275384" cy="2743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uações"/>
              <p:cNvSpPr txBox="1"/>
              <p:nvPr/>
            </p:nvSpPr>
            <p:spPr>
              <a:xfrm>
                <a:off x="7086600" y="1325880"/>
                <a:ext cx="4663440" cy="530352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>
                  <a:spcBef>
                    <a:spcPts val="1400"/>
                  </a:spcBef>
                  <a:buNone/>
                </a:pPr>
                <a:r>
                  <a:rPr lang="pt-BR" sz="1300" b="1">
                    <a:solidFill>
                      <a:srgbClr val="F2711C"/>
                    </a:solidFill>
                    <a:latin typeface="Calibri"/>
                  </a:rPr>
                  <a:t>1ª Lei da Termodinâmica (para o odeint)</a:t>
                </a:r>
              </a:p>
              <a:p>
                <a:pPr algn="l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pt-BR" sz="2000" i="0">
                          <a:solidFill>
                            <a:srgbClr val="14171F"/>
                          </a:solidFill>
                          <a:latin typeface="Cambria Math" panose="02040503050406030204" pitchFamily="18" charset="0"/>
                        </a:rPr>
                        <m:t> = </m:t>
                      </m:r>
                      <m:f>
                        <m:fPr>
                          <m:ctrlP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 − </m:t>
                          </m:r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 − </m:t>
                          </m:r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>
                  <a:buNone/>
                </a:pPr>
                <a:endParaRPr lang="pt-BR" sz="500"/>
              </a:p>
              <a:p>
                <a:pPr algn="l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pt-BR" sz="2000" i="0">
                          <a:solidFill>
                            <a:srgbClr val="14171F"/>
                          </a:solidFill>
                          <a:latin typeface="Cambria Math" panose="02040503050406030204" pitchFamily="18" charset="0"/>
                        </a:rPr>
                        <m:t> = </m:t>
                      </m:r>
                      <m:f>
                        <m:fPr>
                          <m:ctrlP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 − </m:t>
                          </m:r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algn="l">
                  <a:spcBef>
                    <a:spcPts val="1400"/>
                  </a:spcBef>
                  <a:buNone/>
                </a:pPr>
                <a:r>
                  <a:rPr lang="pt-BR" sz="1300" b="1">
                    <a:solidFill>
                      <a:srgbClr val="F2711C"/>
                    </a:solidFill>
                    <a:latin typeface="Calibri"/>
                  </a:rPr>
                  <a:t>Fluxos de calor</a:t>
                </a:r>
              </a:p>
              <a:p>
                <a:pPr algn="l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000" i="0">
                          <a:solidFill>
                            <a:srgbClr val="14171F"/>
                          </a:solidFill>
                          <a:latin typeface="Cambria Math" panose="02040503050406030204" pitchFamily="18" charset="0"/>
                        </a:rPr>
                        <m:t> = </m:t>
                      </m:r>
                      <m:r>
                        <a:rPr lang="pt-BR" sz="2000" i="0">
                          <a:solidFill>
                            <a:srgbClr val="14171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000" i="0">
                          <a:solidFill>
                            <a:srgbClr val="14171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pt-BR" sz="2000" i="0">
                          <a:solidFill>
                            <a:srgbClr val="14171F"/>
                          </a:solidFill>
                          <a:latin typeface="Cambria Math" panose="02040503050406030204" pitchFamily="18" charset="0"/>
                        </a:rPr>
                        <m:t>𝑒𝑓𝑖</m:t>
                      </m:r>
                    </m:oMath>
                  </m:oMathPara>
                </a14:m>
              </a:p>
              <a:p>
                <a:pPr>
                  <a:buNone/>
                </a:pPr>
                <a:endParaRPr lang="pt-BR" sz="500"/>
              </a:p>
              <a:p>
                <a:pPr algn="l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000" i="0">
                          <a:solidFill>
                            <a:srgbClr val="14171F"/>
                          </a:solidFill>
                          <a:latin typeface="Cambria Math" panose="02040503050406030204" pitchFamily="18" charset="0"/>
                        </a:rPr>
                        <m:t> = </m:t>
                      </m:r>
                      <m:f>
                        <m:fPr>
                          <m:ctrlP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 − </m:t>
                          </m:r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>
                  <a:buNone/>
                </a:pPr>
                <a:endParaRPr lang="pt-BR" sz="500"/>
              </a:p>
              <a:p>
                <a:pPr algn="l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000" i="0">
                          <a:solidFill>
                            <a:srgbClr val="14171F"/>
                          </a:solidFill>
                          <a:latin typeface="Cambria Math" panose="02040503050406030204" pitchFamily="18" charset="0"/>
                        </a:rPr>
                        <m:t> = </m:t>
                      </m:r>
                      <m:f>
                        <m:fPr>
                          <m:ctrlP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 − </m:t>
                          </m:r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𝑎𝑚𝑏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 + </m:t>
                          </m:r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>
                  <a:buNone/>
                </a:pPr>
                <a:endParaRPr lang="pt-BR" sz="500"/>
              </a:p>
              <a:p>
                <a:pPr algn="l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pt-BR" sz="2000" i="0">
                          <a:solidFill>
                            <a:srgbClr val="14171F"/>
                          </a:solidFill>
                          <a:latin typeface="Cambria Math" panose="02040503050406030204" pitchFamily="18" charset="0"/>
                        </a:rPr>
                        <m:t> = </m:t>
                      </m:r>
                      <m:f>
                        <m:fPr>
                          <m:ctrlP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pt-BR" sz="20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 − </m:t>
                          </m:r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𝑎𝑚𝑏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20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6" name="Equações"/>
              <p:cNvSpPr txBox="1"/>
              <p:nvPr/>
            </p:nvSpPr>
            <p:spPr>
              <a:xfrm>
                <a:off x="7086600" y="1325880"/>
                <a:ext cx="4663440" cy="530352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r>
                  <a:rPr lang="pt-BR"/>
                  <a:t>Equações</a:t>
                </a:r>
              </a:p>
            </p:txBody>
          </p:sp>
        </mc:Fallback>
      </mc:AlternateContent>
      <p:sp>
        <p:nvSpPr>
          <p:cNvPr id="7" name="Rótulo resistências"/>
          <p:cNvSpPr txBox="1"/>
          <p:nvPr/>
        </p:nvSpPr>
        <p:spPr>
          <a:xfrm>
            <a:off x="548640" y="4553712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F2711C"/>
                </a:solidFill>
                <a:latin typeface="Calibri"/>
              </a:rPr>
              <a:t>Resistências térmicas </a:t>
            </a:r>
            <a:r>
              <a:rPr sz="1300" b="0">
                <a:solidFill>
                  <a:srgbClr val="5B6170"/>
                </a:solidFill>
                <a:latin typeface="Calibri"/>
              </a:rPr>
              <a:t>(Fourier: condução · Newton: convecção)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sistências R1 e R2"/>
              <p:cNvSpPr txBox="1"/>
              <p:nvPr/>
            </p:nvSpPr>
            <p:spPr>
              <a:xfrm>
                <a:off x="548640" y="4846320"/>
                <a:ext cx="2834640" cy="18288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700" i="0">
                          <a:solidFill>
                            <a:srgbClr val="14171F"/>
                          </a:solidFill>
                          <a:latin typeface="Cambria Math" panose="02040503050406030204" pitchFamily="18" charset="0"/>
                        </a:rPr>
                        <m:t> = </m:t>
                      </m:r>
                      <m:f>
                        <m:fPr>
                          <m:ctrlP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𝑎𝑟</m:t>
                              </m:r>
                            </m:sub>
                          </m:sSub>
                          <m: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𝑝𝑙𝑎𝑡𝑒𝑟𝑎𝑙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>
                  <a:buNone/>
                </a:pPr>
                <a:endParaRPr lang="pt-BR" sz="500"/>
              </a:p>
              <a:p>
                <a:pPr algn="l"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700" i="0">
                          <a:solidFill>
                            <a:srgbClr val="14171F"/>
                          </a:solidFill>
                          <a:latin typeface="Cambria Math" panose="02040503050406030204" pitchFamily="18" charset="0"/>
                        </a:rPr>
                        <m:t> = </m:t>
                      </m:r>
                      <m:f>
                        <m:fPr>
                          <m:ctrlP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𝑎𝑐𝑜</m:t>
                              </m:r>
                            </m:sub>
                          </m:sSub>
                          <m: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𝑝𝑙𝑎𝑡𝑒𝑟𝑎𝑙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8" name="Resistências R1 e R2"/>
              <p:cNvSpPr txBox="1"/>
              <p:nvPr/>
            </p:nvSpPr>
            <p:spPr>
              <a:xfrm>
                <a:off x="548640" y="4846320"/>
                <a:ext cx="2834640" cy="182880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r>
                  <a:rPr lang="pt-BR"/>
                  <a:t>Resistências R1 e R2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sistências R3 e R4"/>
              <p:cNvSpPr txBox="1"/>
              <p:nvPr/>
            </p:nvSpPr>
            <p:spPr>
              <a:xfrm>
                <a:off x="3520440" y="4846320"/>
                <a:ext cx="3108960" cy="18288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1700" i="0">
                          <a:solidFill>
                            <a:srgbClr val="14171F"/>
                          </a:solidFill>
                          <a:latin typeface="Cambria Math" panose="02040503050406030204" pitchFamily="18" charset="0"/>
                        </a:rPr>
                        <m:t> = </m:t>
                      </m:r>
                      <m:f>
                        <m:fPr>
                          <m:ctrlP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𝑎𝑐𝑜</m:t>
                              </m:r>
                            </m:sub>
                          </m:sSub>
                          <m: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>
                  <a:buNone/>
                </a:pPr>
                <a:endParaRPr lang="pt-BR" sz="500"/>
              </a:p>
              <a:p>
                <a:pPr algn="l"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pt-BR" sz="1700" i="0">
                          <a:solidFill>
                            <a:srgbClr val="14171F"/>
                          </a:solidFill>
                          <a:latin typeface="Cambria Math" panose="02040503050406030204" pitchFamily="18" charset="0"/>
                        </a:rPr>
                        <m:t> = </m:t>
                      </m:r>
                      <m:f>
                        <m:fPr>
                          <m:ctrlP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𝑎𝑟</m:t>
                              </m:r>
                            </m:sub>
                          </m:sSub>
                          <m:r>
                            <a:rPr lang="pt-BR" sz="1700" i="0">
                              <a:solidFill>
                                <a:srgbClr val="14171F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1700" i="0">
                                  <a:solidFill>
                                    <a:srgbClr val="14171F"/>
                                  </a:solidFill>
                                  <a:latin typeface="Cambria Math" panose="02040503050406030204" pitchFamily="18" charset="0"/>
                                </a:rPr>
                                <m:t>𝑝𝑎𝑛𝑒𝑙𝑎𝑎𝑏𝑒𝑟𝑡𝑎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9" name="Resistências R3 e R4"/>
              <p:cNvSpPr txBox="1"/>
              <p:nvPr/>
            </p:nvSpPr>
            <p:spPr>
              <a:xfrm>
                <a:off x="3520440" y="4846320"/>
                <a:ext cx="3108960" cy="182880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r>
                  <a:rPr lang="pt-BR"/>
                  <a:t>Resistências R3 e R4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2711C"/>
                </a:solidFill>
                <a:latin typeface="Calibri"/>
              </a:rPr>
              <a:t>MODELO E EQUAÇÕES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4171F"/>
                </a:solidFill>
                <a:latin typeface="Calibri"/>
              </a:rPr>
              <a:t>O modelo: dois estoques de energia</a:t>
            </a:r>
          </a:p>
        </p:txBody>
      </p:sp>
      <p:pic>
        <p:nvPicPr>
          <p:cNvPr id="4" name="Diagrama de estoques e fluxos" descr="diagrama_estoques_flux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7223760" cy="4714454"/>
          </a:xfrm>
          <a:prstGeom prst="rect">
            <a:avLst/>
          </a:prstGeom>
        </p:spPr>
      </p:pic>
      <p:sp>
        <p:nvSpPr>
          <p:cNvPr id="5" name="Cartão das hipóteses"/>
          <p:cNvSpPr/>
          <p:nvPr/>
        </p:nvSpPr>
        <p:spPr>
          <a:xfrm>
            <a:off x="8001000" y="1508760"/>
            <a:ext cx="3611880" cy="47548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17830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4171F"/>
                </a:solidFill>
                <a:latin typeface="Calibri"/>
              </a:rPr>
              <a:t>Hipóteses</a:t>
            </a:r>
          </a:p>
        </p:txBody>
      </p:sp>
      <p:sp>
        <p:nvSpPr>
          <p:cNvPr id="7" name="Marcador 1"/>
          <p:cNvSpPr/>
          <p:nvPr/>
        </p:nvSpPr>
        <p:spPr>
          <a:xfrm>
            <a:off x="8321040" y="2450592"/>
            <a:ext cx="146304" cy="146304"/>
          </a:xfrm>
          <a:prstGeom prst="ellipse">
            <a:avLst/>
          </a:prstGeom>
          <a:solidFill>
            <a:srgbClr val="F2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13648" y="2377440"/>
            <a:ext cx="2880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71F"/>
                </a:solidFill>
                <a:latin typeface="Calibri"/>
              </a:rPr>
              <a:t>Temperatura uniforme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5B6170"/>
                </a:solidFill>
                <a:latin typeface="Calibri"/>
              </a:rPr>
              <a:t>na panela (Tp) e na água (Ta)</a:t>
            </a:r>
          </a:p>
        </p:txBody>
      </p:sp>
      <p:sp>
        <p:nvSpPr>
          <p:cNvPr id="9" name="Marcador 2"/>
          <p:cNvSpPr/>
          <p:nvPr/>
        </p:nvSpPr>
        <p:spPr>
          <a:xfrm>
            <a:off x="8321040" y="3383280"/>
            <a:ext cx="146304" cy="146304"/>
          </a:xfrm>
          <a:prstGeom prst="ellipse">
            <a:avLst/>
          </a:prstGeom>
          <a:solidFill>
            <a:srgbClr val="F2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13648" y="3310128"/>
            <a:ext cx="2880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71F"/>
                </a:solidFill>
                <a:latin typeface="Calibri"/>
              </a:rPr>
              <a:t>Sem convecção na água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5B6170"/>
                </a:solidFill>
                <a:latin typeface="Calibri"/>
              </a:rPr>
              <a:t>calor passa por condução na parede</a:t>
            </a:r>
          </a:p>
        </p:txBody>
      </p:sp>
      <p:sp>
        <p:nvSpPr>
          <p:cNvPr id="11" name="Marcador 3"/>
          <p:cNvSpPr/>
          <p:nvPr/>
        </p:nvSpPr>
        <p:spPr>
          <a:xfrm>
            <a:off x="8321040" y="4315968"/>
            <a:ext cx="146304" cy="146304"/>
          </a:xfrm>
          <a:prstGeom prst="ellipse">
            <a:avLst/>
          </a:prstGeom>
          <a:solidFill>
            <a:srgbClr val="F2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13648" y="4242816"/>
            <a:ext cx="2880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71F"/>
                </a:solidFill>
                <a:latin typeface="Calibri"/>
              </a:rPr>
              <a:t>Fundo não perde calor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5B6170"/>
                </a:solidFill>
                <a:latin typeface="Calibri"/>
              </a:rPr>
              <a:t>apoiado no fogão</a:t>
            </a:r>
          </a:p>
        </p:txBody>
      </p:sp>
      <p:sp>
        <p:nvSpPr>
          <p:cNvPr id="13" name="Marcador 4"/>
          <p:cNvSpPr/>
          <p:nvPr/>
        </p:nvSpPr>
        <p:spPr>
          <a:xfrm>
            <a:off x="8321040" y="5248656"/>
            <a:ext cx="146304" cy="146304"/>
          </a:xfrm>
          <a:prstGeom prst="ellipse">
            <a:avLst/>
          </a:prstGeom>
          <a:solidFill>
            <a:srgbClr val="F2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13648" y="5175504"/>
            <a:ext cx="2880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71F"/>
                </a:solidFill>
                <a:latin typeface="Calibri"/>
              </a:rPr>
              <a:t>Sem radiação e evaporação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5B6170"/>
                </a:solidFill>
                <a:latin typeface="Calibri"/>
              </a:rPr>
              <a:t>como termos separados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2711C"/>
                </a:solidFill>
                <a:latin typeface="Calibri"/>
              </a:rPr>
              <a:t>MODELO E EQUAÇÕES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4171F"/>
                </a:solidFill>
                <a:latin typeface="Calibri"/>
              </a:rPr>
              <a:t>Parâmetros: medidos, calculados e ajustados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C7ED6"/>
                </a:solidFill>
                <a:latin typeface="Calibri"/>
              </a:rPr>
              <a:t>MEDIDOS</a:t>
            </a:r>
          </a:p>
        </p:txBody>
      </p:sp>
      <p:sp>
        <p:nvSpPr>
          <p:cNvPr id="36" name="Medido 1b"/>
          <p:cNvSpPr/>
          <p:nvPr/>
        </p:nvSpPr>
        <p:spPr>
          <a:xfrm>
            <a:off x="548640" y="1920240"/>
            <a:ext cx="1636776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Medido 2b"/>
          <p:cNvSpPr/>
          <p:nvPr/>
        </p:nvSpPr>
        <p:spPr>
          <a:xfrm>
            <a:off x="2249424" y="1920240"/>
            <a:ext cx="1636776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Medido 3b"/>
          <p:cNvSpPr/>
          <p:nvPr/>
        </p:nvSpPr>
        <p:spPr>
          <a:xfrm>
            <a:off x="548640" y="2724912"/>
            <a:ext cx="1636776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Medido 4b"/>
          <p:cNvSpPr/>
          <p:nvPr/>
        </p:nvSpPr>
        <p:spPr>
          <a:xfrm>
            <a:off x="2249424" y="2724912"/>
            <a:ext cx="1636776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Medido 5b"/>
          <p:cNvSpPr/>
          <p:nvPr/>
        </p:nvSpPr>
        <p:spPr>
          <a:xfrm>
            <a:off x="548640" y="3529584"/>
            <a:ext cx="1636776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Medido 6b"/>
          <p:cNvSpPr/>
          <p:nvPr/>
        </p:nvSpPr>
        <p:spPr>
          <a:xfrm>
            <a:off x="2249424" y="3529584"/>
            <a:ext cx="1636776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ótulo LITERATURA"/>
          <p:cNvSpPr txBox="1"/>
          <p:nvPr/>
        </p:nvSpPr>
        <p:spPr>
          <a:xfrm>
            <a:off x="4434840" y="292608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5B6170"/>
                </a:solidFill>
                <a:latin typeface="Calibri"/>
              </a:rPr>
              <a:t>DA LITERATURA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50876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5B6170"/>
                </a:solidFill>
                <a:latin typeface="Calibri"/>
              </a:rPr>
              <a:t>CALCULADO</a:t>
            </a:r>
          </a:p>
        </p:txBody>
      </p:sp>
      <p:sp>
        <p:nvSpPr>
          <p:cNvPr id="49" name="Cartão LITERATURA"/>
          <p:cNvSpPr/>
          <p:nvPr/>
        </p:nvSpPr>
        <p:spPr>
          <a:xfrm>
            <a:off x="4434840" y="3310128"/>
            <a:ext cx="333756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tão CALCULADO"/>
          <p:cNvSpPr/>
          <p:nvPr/>
        </p:nvSpPr>
        <p:spPr>
          <a:xfrm>
            <a:off x="4434840" y="192024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59" y="198424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5B6170"/>
                </a:solidFill>
                <a:latin typeface="Calibri"/>
              </a:rPr>
              <a:t>0,75 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24505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4171F"/>
                </a:solidFill>
                <a:latin typeface="Calibri"/>
              </a:rPr>
              <a:t>massa da panela (mp)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50876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2711C"/>
                </a:solidFill>
                <a:latin typeface="Calibri"/>
              </a:rPr>
              <a:t>AJUSTADOS</a:t>
            </a:r>
          </a:p>
        </p:txBody>
      </p:sp>
      <p:sp>
        <p:nvSpPr>
          <p:cNvPr id="21" name="Cartão AJUSTADOS"/>
          <p:cNvSpPr/>
          <p:nvPr/>
        </p:nvSpPr>
        <p:spPr>
          <a:xfrm>
            <a:off x="8321040" y="1920240"/>
            <a:ext cx="33375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0" y="219456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2711C"/>
                </a:solidFill>
                <a:latin typeface="Calibri"/>
              </a:rPr>
              <a:t>200 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8803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4171F"/>
                </a:solidFill>
                <a:latin typeface="Calibri"/>
              </a:rPr>
              <a:t>potência média do fogão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337560"/>
            <a:ext cx="28346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4171F"/>
                </a:solidFill>
                <a:latin typeface="Calibri"/>
              </a:rPr>
              <a:t>Ligado</a:t>
            </a:r>
            <a:r>
              <a:rPr sz="1400" b="1" i="0" dirty="0">
                <a:solidFill>
                  <a:srgbClr val="14171F"/>
                </a:solidFill>
                <a:latin typeface="Calibri"/>
              </a:rPr>
              <a:t>: </a:t>
            </a:r>
            <a:r>
              <a:rPr sz="1400" b="0" i="0" dirty="0">
                <a:solidFill>
                  <a:srgbClr val="5B6170"/>
                </a:solidFill>
                <a:latin typeface="Calibri"/>
              </a:rPr>
              <a:t>220 V · 3,2 A / √2 ≈ 498 W</a:t>
            </a:r>
          </a:p>
          <a:p>
            <a:pPr algn="l">
              <a:spcBef>
                <a:spcPts val="300"/>
              </a:spcBef>
            </a:pPr>
            <a:r>
              <a:rPr sz="1400" b="0" i="0" dirty="0" err="1">
                <a:solidFill>
                  <a:srgbClr val="5B6170"/>
                </a:solidFill>
                <a:latin typeface="Calibri"/>
              </a:rPr>
              <a:t>liga</a:t>
            </a:r>
            <a:r>
              <a:rPr sz="1400" b="0" i="0" dirty="0">
                <a:solidFill>
                  <a:srgbClr val="5B6170"/>
                </a:solidFill>
                <a:latin typeface="Calibri"/>
              </a:rPr>
              <a:t> e </a:t>
            </a:r>
            <a:r>
              <a:rPr sz="1400" b="0" i="0" dirty="0" err="1">
                <a:solidFill>
                  <a:srgbClr val="5B6170"/>
                </a:solidFill>
                <a:latin typeface="Calibri"/>
              </a:rPr>
              <a:t>desliga</a:t>
            </a:r>
            <a:r>
              <a:rPr sz="1400" b="0" i="0" dirty="0">
                <a:solidFill>
                  <a:srgbClr val="5B6170"/>
                </a:solidFill>
                <a:latin typeface="Calibri"/>
              </a:rPr>
              <a:t>: </a:t>
            </a:r>
            <a:r>
              <a:rPr sz="1400" b="0" i="0" dirty="0" err="1">
                <a:solidFill>
                  <a:srgbClr val="5B6170"/>
                </a:solidFill>
                <a:latin typeface="Calibri"/>
              </a:rPr>
              <a:t>ligado</a:t>
            </a:r>
            <a:r>
              <a:rPr sz="1400" b="0" i="0" dirty="0">
                <a:solidFill>
                  <a:srgbClr val="5B6170"/>
                </a:solidFill>
                <a:latin typeface="Calibri"/>
              </a:rPr>
              <a:t> ≈ 40 % do tempo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57200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2711C"/>
                </a:solidFill>
                <a:latin typeface="Calibri"/>
              </a:rPr>
              <a:t>60 W/(m²·K)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5074920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4171F"/>
                </a:solidFill>
                <a:latin typeface="Calibri"/>
              </a:rPr>
              <a:t>convecção no ar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5B6170"/>
                </a:solidFill>
                <a:latin typeface="Calibri"/>
              </a:rPr>
              <a:t>acima da convecção natural: inclui evaporação e radiação</a:t>
            </a:r>
          </a:p>
        </p:txBody>
      </p:sp>
      <p:sp>
        <p:nvSpPr>
          <p:cNvPr id="27" name="Item 01"/>
          <p:cNvSpPr/>
          <p:nvPr/>
        </p:nvSpPr>
        <p:spPr>
          <a:xfrm>
            <a:off x="548640" y="4434840"/>
            <a:ext cx="22860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Número 01"/>
          <p:cNvSpPr/>
          <p:nvPr/>
        </p:nvSpPr>
        <p:spPr>
          <a:xfrm>
            <a:off x="777240" y="4599432"/>
            <a:ext cx="457200" cy="457200"/>
          </a:xfrm>
          <a:prstGeom prst="ellipse">
            <a:avLst/>
          </a:prstGeom>
          <a:solidFill>
            <a:srgbClr val="F2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66360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14171F"/>
                </a:solidFill>
                <a:latin typeface="Calibri"/>
              </a:rPr>
              <a:t>Indução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5B6170"/>
                </a:solidFill>
                <a:latin typeface="Calibri"/>
              </a:rPr>
              <a:t>O campo magnético da bobina esquenta direto o aço da panela.</a:t>
            </a:r>
          </a:p>
        </p:txBody>
      </p:sp>
      <p:sp>
        <p:nvSpPr>
          <p:cNvPr id="30" name="Item 02"/>
          <p:cNvSpPr/>
          <p:nvPr/>
        </p:nvSpPr>
        <p:spPr>
          <a:xfrm>
            <a:off x="2999232" y="4434840"/>
            <a:ext cx="22860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Número 02"/>
          <p:cNvSpPr/>
          <p:nvPr/>
        </p:nvSpPr>
        <p:spPr>
          <a:xfrm>
            <a:off x="3227832" y="4599432"/>
            <a:ext cx="457200" cy="457200"/>
          </a:xfrm>
          <a:prstGeom prst="ellipse">
            <a:avLst/>
          </a:prstGeom>
          <a:solidFill>
            <a:srgbClr val="F2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27832" y="5166360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14171F"/>
                </a:solidFill>
                <a:latin typeface="Calibri"/>
              </a:rPr>
              <a:t>Panela sem tampa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5B6170"/>
                </a:solidFill>
                <a:latin typeface="Calibri"/>
              </a:rPr>
              <a:t>Perde calor para o ar pelas paredes e pela superfície da água.</a:t>
            </a:r>
          </a:p>
        </p:txBody>
      </p:sp>
      <p:sp>
        <p:nvSpPr>
          <p:cNvPr id="33" name="Item 03"/>
          <p:cNvSpPr/>
          <p:nvPr/>
        </p:nvSpPr>
        <p:spPr>
          <a:xfrm>
            <a:off x="5449824" y="4434840"/>
            <a:ext cx="22860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Número 03"/>
          <p:cNvSpPr/>
          <p:nvPr/>
        </p:nvSpPr>
        <p:spPr>
          <a:xfrm>
            <a:off x="5678424" y="4599432"/>
            <a:ext cx="457200" cy="457200"/>
          </a:xfrm>
          <a:prstGeom prst="ellipse">
            <a:avLst/>
          </a:prstGeom>
          <a:solidFill>
            <a:srgbClr val="F27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78424" y="5166360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14171F"/>
                </a:solidFill>
                <a:latin typeface="Calibri"/>
              </a:rPr>
              <a:t>Fogão liga e desliga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5B6170"/>
                </a:solidFill>
                <a:latin typeface="Calibri"/>
              </a:rPr>
              <a:t>No modo 150 °C, a potência que chega à panela é uma média.</a:t>
            </a:r>
          </a:p>
        </p:txBody>
      </p:sp>
      <p:sp>
        <p:nvSpPr>
          <p:cNvPr id="37" name="Texto medido 1"/>
          <p:cNvSpPr txBox="1"/>
          <p:nvPr/>
        </p:nvSpPr>
        <p:spPr>
          <a:xfrm>
            <a:off x="704088" y="201168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1C7ED6"/>
                </a:solidFill>
                <a:latin typeface="Calibri"/>
              </a:rPr>
              <a:t>8,0 cm</a:t>
            </a:r>
          </a:p>
          <a:p>
            <a:r>
              <a:rPr sz="1100" b="0">
                <a:solidFill>
                  <a:srgbClr val="5B6170"/>
                </a:solidFill>
                <a:latin typeface="Calibri"/>
              </a:rPr>
              <a:t>raio (r)</a:t>
            </a:r>
          </a:p>
        </p:txBody>
      </p:sp>
      <p:sp>
        <p:nvSpPr>
          <p:cNvPr id="39" name="Texto medido 2"/>
          <p:cNvSpPr txBox="1"/>
          <p:nvPr/>
        </p:nvSpPr>
        <p:spPr>
          <a:xfrm>
            <a:off x="2404872" y="201168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1C7ED6"/>
                </a:solidFill>
                <a:latin typeface="Calibri"/>
              </a:rPr>
              <a:t>81,2 mm</a:t>
            </a:r>
          </a:p>
          <a:p>
            <a:r>
              <a:rPr sz="1100" b="0">
                <a:solidFill>
                  <a:srgbClr val="5B6170"/>
                </a:solidFill>
                <a:latin typeface="Calibri"/>
              </a:rPr>
              <a:t>altura (H)</a:t>
            </a:r>
          </a:p>
        </p:txBody>
      </p:sp>
      <p:sp>
        <p:nvSpPr>
          <p:cNvPr id="41" name="Texto medido 3"/>
          <p:cNvSpPr txBox="1"/>
          <p:nvPr/>
        </p:nvSpPr>
        <p:spPr>
          <a:xfrm>
            <a:off x="704088" y="2816352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1C7ED6"/>
                </a:solidFill>
                <a:latin typeface="Calibri"/>
              </a:rPr>
              <a:t>0,54 mm</a:t>
            </a:r>
          </a:p>
          <a:p>
            <a:r>
              <a:rPr sz="1100" b="0">
                <a:solidFill>
                  <a:srgbClr val="5B6170"/>
                </a:solidFill>
                <a:latin typeface="Calibri"/>
              </a:rPr>
              <a:t>espessura (d)</a:t>
            </a:r>
          </a:p>
        </p:txBody>
      </p:sp>
      <p:sp>
        <p:nvSpPr>
          <p:cNvPr id="43" name="Texto medido 4"/>
          <p:cNvSpPr txBox="1"/>
          <p:nvPr/>
        </p:nvSpPr>
        <p:spPr>
          <a:xfrm>
            <a:off x="2404872" y="2816352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1C7ED6"/>
                </a:solidFill>
                <a:latin typeface="Calibri"/>
              </a:rPr>
              <a:t>1,123 kg</a:t>
            </a:r>
          </a:p>
          <a:p>
            <a:r>
              <a:rPr sz="1100" b="0">
                <a:solidFill>
                  <a:srgbClr val="5B6170"/>
                </a:solidFill>
                <a:latin typeface="Calibri"/>
              </a:rPr>
              <a:t>massa de água (ma)</a:t>
            </a:r>
          </a:p>
        </p:txBody>
      </p:sp>
      <p:sp>
        <p:nvSpPr>
          <p:cNvPr id="45" name="Texto medido 5"/>
          <p:cNvSpPr txBox="1"/>
          <p:nvPr/>
        </p:nvSpPr>
        <p:spPr>
          <a:xfrm>
            <a:off x="704088" y="3621024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1C7ED6"/>
                </a:solidFill>
                <a:latin typeface="Calibri"/>
              </a:rPr>
              <a:t>18,9 °C</a:t>
            </a:r>
          </a:p>
          <a:p>
            <a:r>
              <a:rPr sz="1100" b="0">
                <a:solidFill>
                  <a:srgbClr val="5B6170"/>
                </a:solidFill>
                <a:latin typeface="Calibri"/>
              </a:rPr>
              <a:t>ambiente (Tamb)</a:t>
            </a:r>
          </a:p>
        </p:txBody>
      </p:sp>
      <p:sp>
        <p:nvSpPr>
          <p:cNvPr id="47" name="Texto medido 6"/>
          <p:cNvSpPr txBox="1"/>
          <p:nvPr/>
        </p:nvSpPr>
        <p:spPr>
          <a:xfrm>
            <a:off x="2404872" y="3621024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1C7ED6"/>
                </a:solidFill>
                <a:latin typeface="Calibri"/>
              </a:rPr>
              <a:t>20,7 °C</a:t>
            </a:r>
          </a:p>
          <a:p>
            <a:r>
              <a:rPr sz="1100" b="0">
                <a:solidFill>
                  <a:srgbClr val="5B6170"/>
                </a:solidFill>
                <a:latin typeface="Calibri"/>
              </a:rPr>
              <a:t>inicial (Tp0 = Ta0)</a:t>
            </a:r>
          </a:p>
        </p:txBody>
      </p:sp>
      <p:sp>
        <p:nvSpPr>
          <p:cNvPr id="50" name="Texto literatura"/>
          <p:cNvSpPr txBox="1"/>
          <p:nvPr/>
        </p:nvSpPr>
        <p:spPr>
          <a:xfrm>
            <a:off x="4709160" y="340156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5B6170"/>
                </a:solidFill>
                <a:latin typeface="Calibri"/>
              </a:rPr>
              <a:t>500 J/(kg·K)</a:t>
            </a:r>
            <a:r>
              <a:rPr sz="1200" b="0">
                <a:solidFill>
                  <a:srgbClr val="5B6170"/>
                </a:solidFill>
                <a:latin typeface="Calibri"/>
              </a:rPr>
              <a:t>   aço (cp)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5B6170"/>
                </a:solidFill>
                <a:latin typeface="Calibri"/>
              </a:rPr>
              <a:t>4186 J/(kg·K)</a:t>
            </a:r>
            <a:r>
              <a:rPr sz="1200" b="0">
                <a:solidFill>
                  <a:srgbClr val="5B6170"/>
                </a:solidFill>
                <a:latin typeface="Calibri"/>
              </a:rPr>
              <a:t>   água (ca)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5B6170"/>
                </a:solidFill>
                <a:latin typeface="Calibri"/>
              </a:rPr>
              <a:t>16 W/(m·K)</a:t>
            </a:r>
            <a:r>
              <a:rPr sz="1200" b="0">
                <a:solidFill>
                  <a:srgbClr val="5B6170"/>
                </a:solidFill>
                <a:latin typeface="Calibri"/>
              </a:rPr>
              <a:t>   aço inox (Kaco)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2711C"/>
                </a:solidFill>
                <a:latin typeface="Calibri"/>
              </a:rPr>
              <a:t>VALIDAÇÃO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4171F"/>
                </a:solidFill>
                <a:latin typeface="Calibri"/>
              </a:rPr>
              <a:t>Validação: modelo × experimento</a:t>
            </a:r>
          </a:p>
        </p:txBody>
      </p:sp>
      <p:graphicFrame>
        <p:nvGraphicFramePr>
          <p:cNvPr id="4" name="Gráfico da validação"/>
          <p:cNvGraphicFramePr>
            <a:graphicFrameLocks noGrp="1"/>
          </p:cNvGraphicFramePr>
          <p:nvPr/>
        </p:nvGraphicFramePr>
        <p:xfrm>
          <a:off x="457200" y="1371600"/>
          <a:ext cx="740664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Cartão das diferenças"/>
          <p:cNvSpPr/>
          <p:nvPr/>
        </p:nvSpPr>
        <p:spPr>
          <a:xfrm>
            <a:off x="8183879" y="3520440"/>
            <a:ext cx="3474720" cy="288036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rtão do erro"/>
          <p:cNvSpPr/>
          <p:nvPr/>
        </p:nvSpPr>
        <p:spPr>
          <a:xfrm>
            <a:off x="8183879" y="1554480"/>
            <a:ext cx="3474720" cy="1783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58200" y="169164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 dirty="0">
                <a:solidFill>
                  <a:srgbClr val="F2711C"/>
                </a:solidFill>
                <a:latin typeface="Calibri"/>
              </a:rPr>
              <a:t>2,8 %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2715768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4171F"/>
                </a:solidFill>
                <a:latin typeface="Calibri"/>
              </a:rPr>
              <a:t>erro</a:t>
            </a:r>
            <a:r>
              <a:rPr sz="1400" b="1" i="0" dirty="0">
                <a:solidFill>
                  <a:srgbClr val="14171F"/>
                </a:solidFill>
                <a:latin typeface="Calibri"/>
              </a:rPr>
              <a:t> percentual </a:t>
            </a:r>
            <a:r>
              <a:rPr sz="1400" b="1" i="0" dirty="0" err="1">
                <a:solidFill>
                  <a:srgbClr val="14171F"/>
                </a:solidFill>
                <a:latin typeface="Calibri"/>
              </a:rPr>
              <a:t>médio</a:t>
            </a:r>
            <a:endParaRPr sz="1400" b="1" i="0" dirty="0">
              <a:solidFill>
                <a:srgbClr val="14171F"/>
              </a:solidFill>
              <a:latin typeface="Calibri"/>
            </a:endParaRPr>
          </a:p>
        </p:txBody>
      </p:sp>
      <p:sp>
        <p:nvSpPr>
          <p:cNvPr id="9" name="Texto das diferenças"/>
          <p:cNvSpPr txBox="1"/>
          <p:nvPr/>
        </p:nvSpPr>
        <p:spPr>
          <a:xfrm>
            <a:off x="8458200" y="3703320"/>
            <a:ext cx="301752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14171F"/>
                </a:solidFill>
                <a:latin typeface="Calibri"/>
              </a:rPr>
              <a:t>Por que o modelo difere?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14171F"/>
                </a:solidFill>
                <a:latin typeface="Calibri"/>
              </a:rPr>
              <a:t>Tempo corrigido: </a:t>
            </a:r>
            <a:r>
              <a:rPr sz="1250" b="0">
                <a:solidFill>
                  <a:srgbClr val="5B6170"/>
                </a:solidFill>
                <a:latin typeface="Calibri"/>
              </a:rPr>
              <a:t>o cronômetro começou 7 min antes do aquecimento (2 primeiros pontos descartados).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14171F"/>
                </a:solidFill>
                <a:latin typeface="Calibri"/>
              </a:rPr>
              <a:t>Até ~27 min o modelo fica acima </a:t>
            </a:r>
            <a:r>
              <a:rPr sz="1250" b="0">
                <a:solidFill>
                  <a:srgbClr val="5B6170"/>
                </a:solidFill>
                <a:latin typeface="Calibri"/>
              </a:rPr>
              <a:t>(maior erro: 6,8 % aos 11 min); depois, um pouco abaixo.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14171F"/>
                </a:solidFill>
                <a:latin typeface="Calibri"/>
              </a:rPr>
              <a:t>Motivos: </a:t>
            </a:r>
            <a:r>
              <a:rPr sz="1250" b="0">
                <a:solidFill>
                  <a:srgbClr val="5B6170"/>
                </a:solidFill>
                <a:latin typeface="Calibri"/>
              </a:rPr>
              <a:t>o fogão liga e desliga (usamos a média de 200 W) e o h do ar é constante, mas a evaporação aumenta com a temperatura.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2711C"/>
                </a:solidFill>
                <a:latin typeface="Calibri"/>
              </a:rPr>
              <a:t>RESULTADOS E CONCLUSÃO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4171F"/>
                </a:solidFill>
                <a:latin typeface="Calibri"/>
              </a:rPr>
              <a:t>Resultado: tempo até ferver × potência</a:t>
            </a:r>
          </a:p>
        </p:txBody>
      </p:sp>
      <p:graphicFrame>
        <p:nvGraphicFramePr>
          <p:cNvPr id="4" name="Gráfico conclusivo"/>
          <p:cNvGraphicFramePr>
            <a:graphicFrameLocks noGrp="1"/>
          </p:cNvGraphicFramePr>
          <p:nvPr/>
        </p:nvGraphicFramePr>
        <p:xfrm>
          <a:off x="457200" y="1371600"/>
          <a:ext cx="740664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aixa sem fervura"/>
          <p:cNvSpPr/>
          <p:nvPr/>
        </p:nvSpPr>
        <p:spPr>
          <a:xfrm>
            <a:off x="1161288" y="1536192"/>
            <a:ext cx="679268" cy="4261104"/>
          </a:xfrm>
          <a:prstGeom prst="rect">
            <a:avLst/>
          </a:prstGeom>
          <a:solidFill>
            <a:srgbClr val="E6E8E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16152" y="4892040"/>
            <a:ext cx="62440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5B6170"/>
                </a:solidFill>
                <a:latin typeface="Calibri"/>
              </a:rPr>
              <a:t>não ferve</a:t>
            </a:r>
          </a:p>
          <a:p>
            <a:pPr algn="ctr"/>
            <a:r>
              <a:rPr sz="1200" b="1" i="0">
                <a:solidFill>
                  <a:srgbClr val="5B6170"/>
                </a:solidFill>
                <a:latin typeface="Calibri"/>
              </a:rPr>
              <a:t>em 2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22402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4171F"/>
                </a:solidFill>
                <a:latin typeface="Calibri"/>
              </a:rPr>
              <a:t>Leitura do gráfico</a:t>
            </a:r>
          </a:p>
        </p:txBody>
      </p:sp>
      <p:sp>
        <p:nvSpPr>
          <p:cNvPr id="8" name="Destaque 1"/>
          <p:cNvSpPr/>
          <p:nvPr/>
        </p:nvSpPr>
        <p:spPr>
          <a:xfrm>
            <a:off x="8183879" y="2788920"/>
            <a:ext cx="3474720" cy="804672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2898648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2711C"/>
                </a:solidFill>
                <a:latin typeface="Calibri"/>
              </a:rPr>
              <a:t>400 W</a:t>
            </a:r>
          </a:p>
          <a:p>
            <a:pPr algn="l"/>
            <a:r>
              <a:rPr sz="1300" b="0" i="0">
                <a:solidFill>
                  <a:srgbClr val="5B6170"/>
                </a:solidFill>
                <a:latin typeface="Calibri"/>
              </a:rPr>
              <a:t>mínimo para ferver em até 2 h (47 min)</a:t>
            </a:r>
          </a:p>
        </p:txBody>
      </p:sp>
      <p:sp>
        <p:nvSpPr>
          <p:cNvPr id="10" name="Destaque 2"/>
          <p:cNvSpPr/>
          <p:nvPr/>
        </p:nvSpPr>
        <p:spPr>
          <a:xfrm>
            <a:off x="8183879" y="3749039"/>
            <a:ext cx="3474720" cy="804672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3858768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2711C"/>
                </a:solidFill>
                <a:latin typeface="Calibri"/>
              </a:rPr>
              <a:t>1000 W</a:t>
            </a:r>
          </a:p>
          <a:p>
            <a:pPr algn="l"/>
            <a:r>
              <a:rPr sz="1300" b="0" i="0">
                <a:solidFill>
                  <a:srgbClr val="5B6170"/>
                </a:solidFill>
                <a:latin typeface="Calibri"/>
              </a:rPr>
              <a:t>9,8 min</a:t>
            </a:r>
          </a:p>
        </p:txBody>
      </p:sp>
      <p:sp>
        <p:nvSpPr>
          <p:cNvPr id="12" name="Destaque 3"/>
          <p:cNvSpPr/>
          <p:nvPr/>
        </p:nvSpPr>
        <p:spPr>
          <a:xfrm>
            <a:off x="8183879" y="4709160"/>
            <a:ext cx="3474720" cy="804672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>
            <a:outerShdw blurRad="190500" dist="381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4818888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2711C"/>
                </a:solidFill>
                <a:latin typeface="Calibri"/>
              </a:rPr>
              <a:t>2000 W</a:t>
            </a:r>
          </a:p>
          <a:p>
            <a:pPr algn="l"/>
            <a:r>
              <a:rPr sz="1300" b="0" i="0">
                <a:solidFill>
                  <a:srgbClr val="5B6170"/>
                </a:solidFill>
                <a:latin typeface="Calibri"/>
              </a:rPr>
              <a:t>4,4 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el 1"/>
          <p:cNvSpPr/>
          <p:nvPr/>
        </p:nvSpPr>
        <p:spPr>
          <a:xfrm>
            <a:off x="10698480" y="5486400"/>
            <a:ext cx="1097280" cy="1097280"/>
          </a:xfrm>
          <a:prstGeom prst="ellipse">
            <a:avLst/>
          </a:prstGeom>
          <a:noFill/>
          <a:ln w="28575">
            <a:solidFill>
              <a:srgbClr val="F2711C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nel 2"/>
          <p:cNvSpPr/>
          <p:nvPr/>
        </p:nvSpPr>
        <p:spPr>
          <a:xfrm>
            <a:off x="10241280" y="5029200"/>
            <a:ext cx="2011680" cy="2011680"/>
          </a:xfrm>
          <a:prstGeom prst="ellipse">
            <a:avLst/>
          </a:prstGeom>
          <a:noFill/>
          <a:ln w="28575">
            <a:solidFill>
              <a:srgbClr val="F2711C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el 3"/>
          <p:cNvSpPr/>
          <p:nvPr/>
        </p:nvSpPr>
        <p:spPr>
          <a:xfrm>
            <a:off x="9784080" y="4572000"/>
            <a:ext cx="2926080" cy="2926080"/>
          </a:xfrm>
          <a:prstGeom prst="ellipse">
            <a:avLst/>
          </a:prstGeom>
          <a:noFill/>
          <a:ln w="28575">
            <a:solidFill>
              <a:srgbClr val="F2711C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el 4"/>
          <p:cNvSpPr/>
          <p:nvPr/>
        </p:nvSpPr>
        <p:spPr>
          <a:xfrm>
            <a:off x="9326880" y="4114800"/>
            <a:ext cx="3840480" cy="3840480"/>
          </a:xfrm>
          <a:prstGeom prst="ellipse">
            <a:avLst/>
          </a:prstGeom>
          <a:noFill/>
          <a:ln w="28575">
            <a:solidFill>
              <a:srgbClr val="F2711C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ótulo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2711C"/>
                </a:solidFill>
                <a:latin typeface="Calibri"/>
              </a:rPr>
              <a:t>RESULTADOS E CONCLUSÃO</a:t>
            </a:r>
          </a:p>
        </p:txBody>
      </p:sp>
      <p:sp>
        <p:nvSpPr>
          <p:cNvPr id="7" name="Título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Conclusões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474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 dirty="0">
                <a:solidFill>
                  <a:srgbClr val="F2711C"/>
                </a:solidFill>
                <a:latin typeface="Calibri"/>
              </a:rPr>
              <a:t>≈ 400 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 dirty="0" err="1">
                <a:solidFill>
                  <a:srgbClr val="FFFFFF"/>
                </a:solidFill>
                <a:latin typeface="Calibri"/>
              </a:rPr>
              <a:t>potência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FFFFF"/>
                </a:solidFill>
                <a:latin typeface="Calibri"/>
              </a:rPr>
              <a:t>média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FFFFF"/>
                </a:solidFill>
                <a:latin typeface="Calibri"/>
              </a:rPr>
              <a:t>mínima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 para 1,1 kg de </a:t>
            </a:r>
            <a:r>
              <a:rPr sz="1700" b="0" i="0" dirty="0" err="1">
                <a:solidFill>
                  <a:srgbClr val="FFFFFF"/>
                </a:solidFill>
                <a:latin typeface="Calibri"/>
              </a:rPr>
              <a:t>água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FFFFF"/>
                </a:solidFill>
                <a:latin typeface="Calibri"/>
              </a:rPr>
              <a:t>ferver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FFFFF"/>
                </a:solidFill>
                <a:latin typeface="Calibri"/>
              </a:rPr>
              <a:t>em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FFFFF"/>
                </a:solidFill>
                <a:latin typeface="Calibri"/>
              </a:rPr>
              <a:t>até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 2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2651760"/>
            <a:ext cx="3474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2711C"/>
                </a:solidFill>
                <a:latin typeface="Calibri"/>
              </a:rPr>
              <a:t>2000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370332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acima disso o ganho é pequeno: até 3500 W o tempo só cai de 4,4 para 2,4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2651760"/>
            <a:ext cx="3474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2711C"/>
                </a:solidFill>
                <a:latin typeface="Calibri"/>
              </a:rPr>
              <a:t>2,8 %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370332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erro médio entre o modelo e o experimento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799</Words>
  <Application>Microsoft Office PowerPoint</Application>
  <PresentationFormat>Widescreen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Antonio de Souza Dias</cp:lastModifiedBy>
  <cp:revision>6</cp:revision>
  <dcterms:created xsi:type="dcterms:W3CDTF">2013-01-27T09:14:16Z</dcterms:created>
  <dcterms:modified xsi:type="dcterms:W3CDTF">2026-10-27T00:29:45Z</dcterms:modified>
  <cp:category/>
</cp:coreProperties>
</file>