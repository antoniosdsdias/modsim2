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ln w="41275">
              <a:solidFill>
                <a:srgbClr val="F2711C"/>
              </a:solidFill>
            </a:ln>
          </c:spPr>
          <c:marker>
            <c:symbol val="none"/>
          </c:marker>
          <c:xVal>
            <c:numRef>
              <c:f>Sheet1!$A$2:$A$91</c:f>
              <c:numCache>
                <c:formatCode>General</c:formatCode>
                <c:ptCount val="9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</c:numCache>
            </c:numRef>
          </c:xVal>
          <c:yVal>
            <c:numRef>
              <c:f>Sheet1!$B$2:$B$91</c:f>
              <c:numCache>
                <c:formatCode>General</c:formatCode>
                <c:ptCount val="90"/>
                <c:pt idx="0">
                  <c:v>20.7</c:v>
                </c:pt>
                <c:pt idx="1">
                  <c:v>22.584751919345155</c:v>
                </c:pt>
                <c:pt idx="2">
                  <c:v>24.393735676856611</c:v>
                </c:pt>
                <c:pt idx="3">
                  <c:v>26.126334866561102</c:v>
                </c:pt>
                <c:pt idx="4">
                  <c:v>27.785774755996922</c:v>
                </c:pt>
                <c:pt idx="5">
                  <c:v>29.375144531293653</c:v>
                </c:pt>
                <c:pt idx="6">
                  <c:v>30.897403028883204</c:v>
                </c:pt>
                <c:pt idx="7">
                  <c:v>32.355383726665764</c:v>
                </c:pt>
                <c:pt idx="8">
                  <c:v>33.75180063538162</c:v>
                </c:pt>
                <c:pt idx="9">
                  <c:v>35.089253593904942</c:v>
                </c:pt>
                <c:pt idx="10">
                  <c:v>36.370232560835348</c:v>
                </c:pt>
                <c:pt idx="11">
                  <c:v>37.597122069345438</c:v>
                </c:pt>
                <c:pt idx="12">
                  <c:v>38.772205947702695</c:v>
                </c:pt>
                <c:pt idx="13">
                  <c:v>39.897671555487385</c:v>
                </c:pt>
                <c:pt idx="14">
                  <c:v>40.975614107100334</c:v>
                </c:pt>
                <c:pt idx="15">
                  <c:v>42.008040307058415</c:v>
                </c:pt>
                <c:pt idx="16">
                  <c:v>42.99687210934524</c:v>
                </c:pt>
                <c:pt idx="17">
                  <c:v>43.943950410782037</c:v>
                </c:pt>
                <c:pt idx="18">
                  <c:v>44.851038197919699</c:v>
                </c:pt>
                <c:pt idx="19">
                  <c:v>45.719824030641206</c:v>
                </c:pt>
                <c:pt idx="20">
                  <c:v>46.551925210459629</c:v>
                </c:pt>
                <c:pt idx="21">
                  <c:v>47.348890777178497</c:v>
                </c:pt>
                <c:pt idx="22">
                  <c:v>48.112204333014319</c:v>
                </c:pt>
                <c:pt idx="23">
                  <c:v>48.8432868192182</c:v>
                </c:pt>
                <c:pt idx="24">
                  <c:v>49.543499254617394</c:v>
                </c:pt>
                <c:pt idx="25">
                  <c:v>50.214145110529238</c:v>
                </c:pt>
                <c:pt idx="26">
                  <c:v>50.856472817353698</c:v>
                </c:pt>
                <c:pt idx="27">
                  <c:v>51.471678117926238</c:v>
                </c:pt>
                <c:pt idx="28">
                  <c:v>52.060906262013276</c:v>
                </c:pt>
                <c:pt idx="29">
                  <c:v>52.625254118018916</c:v>
                </c:pt>
                <c:pt idx="30">
                  <c:v>53.16577223818328</c:v>
                </c:pt>
                <c:pt idx="31">
                  <c:v>53.683466920645309</c:v>
                </c:pt>
                <c:pt idx="32">
                  <c:v>54.179301827534111</c:v>
                </c:pt>
                <c:pt idx="33">
                  <c:v>54.654200041226233</c:v>
                </c:pt>
                <c:pt idx="34">
                  <c:v>55.109045624331372</c:v>
                </c:pt>
                <c:pt idx="35">
                  <c:v>55.544685245075399</c:v>
                </c:pt>
                <c:pt idx="36">
                  <c:v>55.961929933041461</c:v>
                </c:pt>
                <c:pt idx="37">
                  <c:v>56.361556401936845</c:v>
                </c:pt>
                <c:pt idx="38">
                  <c:v>56.744308536699172</c:v>
                </c:pt>
                <c:pt idx="39">
                  <c:v>57.110898931388874</c:v>
                </c:pt>
                <c:pt idx="40">
                  <c:v>57.462009979101033</c:v>
                </c:pt>
                <c:pt idx="41">
                  <c:v>57.798295293480912</c:v>
                </c:pt>
                <c:pt idx="42">
                  <c:v>58.120380920498022</c:v>
                </c:pt>
                <c:pt idx="43">
                  <c:v>58.428866372639277</c:v>
                </c:pt>
                <c:pt idx="44">
                  <c:v>58.724325985756018</c:v>
                </c:pt>
                <c:pt idx="45">
                  <c:v>59.007309741766043</c:v>
                </c:pt>
                <c:pt idx="46">
                  <c:v>59.27834445138437</c:v>
                </c:pt>
                <c:pt idx="47">
                  <c:v>59.537934710747706</c:v>
                </c:pt>
                <c:pt idx="48">
                  <c:v>59.786563685146227</c:v>
                </c:pt>
                <c:pt idx="49">
                  <c:v>60.024694314326368</c:v>
                </c:pt>
                <c:pt idx="50">
                  <c:v>60.252769806221579</c:v>
                </c:pt>
                <c:pt idx="51">
                  <c:v>60.471214803658896</c:v>
                </c:pt>
                <c:pt idx="52">
                  <c:v>60.680435909980979</c:v>
                </c:pt>
                <c:pt idx="53">
                  <c:v>60.880822621438185</c:v>
                </c:pt>
                <c:pt idx="54">
                  <c:v>61.072747990981483</c:v>
                </c:pt>
                <c:pt idx="55">
                  <c:v>61.256569243060632</c:v>
                </c:pt>
                <c:pt idx="56">
                  <c:v>61.432628651264352</c:v>
                </c:pt>
                <c:pt idx="57">
                  <c:v>61.601253894258562</c:v>
                </c:pt>
                <c:pt idx="58">
                  <c:v>61.762758920091649</c:v>
                </c:pt>
                <c:pt idx="59">
                  <c:v>61.917444321622916</c:v>
                </c:pt>
                <c:pt idx="60">
                  <c:v>62.065598121097551</c:v>
                </c:pt>
                <c:pt idx="61">
                  <c:v>62.207496055008782</c:v>
                </c:pt>
                <c:pt idx="62">
                  <c:v>62.343402358645463</c:v>
                </c:pt>
                <c:pt idx="63">
                  <c:v>62.473569963813397</c:v>
                </c:pt>
                <c:pt idx="64">
                  <c:v>62.598241261258593</c:v>
                </c:pt>
                <c:pt idx="65">
                  <c:v>62.717648274397909</c:v>
                </c:pt>
                <c:pt idx="66">
                  <c:v>62.832013340844263</c:v>
                </c:pt>
                <c:pt idx="67">
                  <c:v>62.941549301047807</c:v>
                </c:pt>
                <c:pt idx="68">
                  <c:v>63.046460107110718</c:v>
                </c:pt>
                <c:pt idx="69">
                  <c:v>63.146941029245049</c:v>
                </c:pt>
                <c:pt idx="70">
                  <c:v>63.243179153721705</c:v>
                </c:pt>
                <c:pt idx="71">
                  <c:v>63.335353574990975</c:v>
                </c:pt>
                <c:pt idx="72">
                  <c:v>63.42363592340201</c:v>
                </c:pt>
                <c:pt idx="73">
                  <c:v>63.508190548475262</c:v>
                </c:pt>
                <c:pt idx="74">
                  <c:v>63.589174878298543</c:v>
                </c:pt>
                <c:pt idx="75">
                  <c:v>63.66673960692038</c:v>
                </c:pt>
                <c:pt idx="76">
                  <c:v>63.741029150662548</c:v>
                </c:pt>
                <c:pt idx="77">
                  <c:v>63.812181799755017</c:v>
                </c:pt>
                <c:pt idx="78">
                  <c:v>63.880330027996521</c:v>
                </c:pt>
                <c:pt idx="79">
                  <c:v>63.945600698385313</c:v>
                </c:pt>
                <c:pt idx="80">
                  <c:v>64.008115324415968</c:v>
                </c:pt>
                <c:pt idx="81">
                  <c:v>64.067990231070482</c:v>
                </c:pt>
                <c:pt idx="82">
                  <c:v>64.125336898960228</c:v>
                </c:pt>
                <c:pt idx="83">
                  <c:v>64.180262109359774</c:v>
                </c:pt>
                <c:pt idx="84">
                  <c:v>64.232868107695552</c:v>
                </c:pt>
                <c:pt idx="85">
                  <c:v>64.283252799408416</c:v>
                </c:pt>
                <c:pt idx="86">
                  <c:v>64.331509990073869</c:v>
                </c:pt>
                <c:pt idx="87">
                  <c:v>64.377729515509202</c:v>
                </c:pt>
                <c:pt idx="88">
                  <c:v>64.421997415873491</c:v>
                </c:pt>
                <c:pt idx="89">
                  <c:v>64.464396097525409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9F0-4812-A625-16B24E764BBD}"/>
            </c:ext>
          </c:extLst>
        </c:ser>
        <c:ser>
          <c:idx val="1"/>
          <c:order val="1"/>
          <c:tx>
            <c:strRef>
              <c:f>Sheet1!$B$93</c:f>
              <c:strCache>
                <c:ptCount val="1"/>
                <c:pt idx="0">
                  <c:v>Experimento (P = 200 W)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  <c:spPr>
              <a:solidFill>
                <a:srgbClr val="1C7ED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Sheet1!$A$94:$A$123</c:f>
              <c:numCache>
                <c:formatCode>General</c:formatCode>
                <c:ptCount val="30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  <c:pt idx="4">
                  <c:v>14</c:v>
                </c:pt>
                <c:pt idx="5">
                  <c:v>17</c:v>
                </c:pt>
                <c:pt idx="6">
                  <c:v>20</c:v>
                </c:pt>
                <c:pt idx="7">
                  <c:v>23</c:v>
                </c:pt>
                <c:pt idx="8">
                  <c:v>26</c:v>
                </c:pt>
                <c:pt idx="9">
                  <c:v>29</c:v>
                </c:pt>
                <c:pt idx="10">
                  <c:v>32</c:v>
                </c:pt>
                <c:pt idx="11">
                  <c:v>35</c:v>
                </c:pt>
                <c:pt idx="12">
                  <c:v>38</c:v>
                </c:pt>
                <c:pt idx="13">
                  <c:v>41</c:v>
                </c:pt>
                <c:pt idx="14">
                  <c:v>44</c:v>
                </c:pt>
                <c:pt idx="15">
                  <c:v>47</c:v>
                </c:pt>
                <c:pt idx="16">
                  <c:v>50</c:v>
                </c:pt>
                <c:pt idx="17">
                  <c:v>53</c:v>
                </c:pt>
                <c:pt idx="18">
                  <c:v>56</c:v>
                </c:pt>
                <c:pt idx="19">
                  <c:v>59</c:v>
                </c:pt>
                <c:pt idx="20">
                  <c:v>62</c:v>
                </c:pt>
                <c:pt idx="21">
                  <c:v>65</c:v>
                </c:pt>
                <c:pt idx="22">
                  <c:v>68</c:v>
                </c:pt>
                <c:pt idx="23">
                  <c:v>71</c:v>
                </c:pt>
                <c:pt idx="24">
                  <c:v>74</c:v>
                </c:pt>
                <c:pt idx="25">
                  <c:v>77</c:v>
                </c:pt>
                <c:pt idx="26">
                  <c:v>80</c:v>
                </c:pt>
                <c:pt idx="27">
                  <c:v>83</c:v>
                </c:pt>
                <c:pt idx="28">
                  <c:v>86</c:v>
                </c:pt>
                <c:pt idx="29">
                  <c:v>89</c:v>
                </c:pt>
              </c:numCache>
            </c:numRef>
          </c:xVal>
          <c:yVal>
            <c:numRef>
              <c:f>Sheet1!$B$94:$B$123</c:f>
              <c:numCache>
                <c:formatCode>General</c:formatCode>
                <c:ptCount val="30"/>
                <c:pt idx="0">
                  <c:v>24.8</c:v>
                </c:pt>
                <c:pt idx="1">
                  <c:v>29.3</c:v>
                </c:pt>
                <c:pt idx="2">
                  <c:v>32.1</c:v>
                </c:pt>
                <c:pt idx="3">
                  <c:v>35.200000000000003</c:v>
                </c:pt>
                <c:pt idx="4">
                  <c:v>39</c:v>
                </c:pt>
                <c:pt idx="5">
                  <c:v>41.2</c:v>
                </c:pt>
                <c:pt idx="6">
                  <c:v>44</c:v>
                </c:pt>
                <c:pt idx="7">
                  <c:v>47.5</c:v>
                </c:pt>
                <c:pt idx="8">
                  <c:v>50.1</c:v>
                </c:pt>
                <c:pt idx="9">
                  <c:v>53.3</c:v>
                </c:pt>
                <c:pt idx="10">
                  <c:v>56.2</c:v>
                </c:pt>
                <c:pt idx="11">
                  <c:v>57.2</c:v>
                </c:pt>
                <c:pt idx="12">
                  <c:v>58.4</c:v>
                </c:pt>
                <c:pt idx="13">
                  <c:v>59.7</c:v>
                </c:pt>
                <c:pt idx="14">
                  <c:v>60.2</c:v>
                </c:pt>
                <c:pt idx="15">
                  <c:v>61</c:v>
                </c:pt>
                <c:pt idx="16">
                  <c:v>61.7</c:v>
                </c:pt>
                <c:pt idx="17">
                  <c:v>62.1</c:v>
                </c:pt>
                <c:pt idx="18">
                  <c:v>62.8</c:v>
                </c:pt>
                <c:pt idx="19">
                  <c:v>63.3</c:v>
                </c:pt>
                <c:pt idx="20">
                  <c:v>63.9</c:v>
                </c:pt>
                <c:pt idx="21">
                  <c:v>64.099999999999994</c:v>
                </c:pt>
                <c:pt idx="22">
                  <c:v>64.400000000000006</c:v>
                </c:pt>
                <c:pt idx="23">
                  <c:v>64.599999999999994</c:v>
                </c:pt>
                <c:pt idx="24">
                  <c:v>64.900000000000006</c:v>
                </c:pt>
                <c:pt idx="25">
                  <c:v>65</c:v>
                </c:pt>
                <c:pt idx="26">
                  <c:v>65.2</c:v>
                </c:pt>
                <c:pt idx="27">
                  <c:v>65.3</c:v>
                </c:pt>
                <c:pt idx="28">
                  <c:v>65.7</c:v>
                </c:pt>
                <c:pt idx="29">
                  <c:v>65.900000000000006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9F0-4812-A625-16B24E764B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9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sz="1300" b="0">
                    <a:solidFill>
                      <a:srgbClr val="5B6170"/>
                    </a:solidFill>
                    <a:latin typeface="Calibri"/>
                  </a:rPr>
                  <a:t>Tempo de aquecimento (min)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9643912"/>
        <c:crosses val="autoZero"/>
        <c:crossBetween val="midCat"/>
        <c:majorUnit val="10"/>
      </c:valAx>
      <c:valAx>
        <c:axId val="-2129643912"/>
        <c:scaling>
          <c:orientation val="minMax"/>
          <c:max val="70"/>
          <c:min val="20"/>
        </c:scaling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300" b="0">
                    <a:solidFill>
                      <a:srgbClr val="5B6170"/>
                    </a:solidFill>
                    <a:latin typeface="Calibri"/>
                  </a:rPr>
                  <a:t>Temperatura da água (°C)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8940872"/>
        <c:crosses val="autoZero"/>
        <c:crossBetween val="midCat"/>
        <c:majorUnit val="10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14171F"/>
              </a:solidFill>
            </a:defRPr>
          </a:pPr>
          <a:endParaRPr lang="pt-BR"/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B61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Tempo para 1,1 kg de água ferver</c:v>
                </c:pt>
              </c:strCache>
            </c:strRef>
          </c:tx>
          <c:spPr>
            <a:ln w="34925">
              <a:solidFill>
                <a:srgbClr val="F2711C"/>
              </a:solidFill>
            </a:ln>
          </c:spPr>
          <c:marker>
            <c:symbol val="circle"/>
            <c:size val="6"/>
            <c:spPr>
              <a:solidFill>
                <a:srgbClr val="F2711C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Sheet1!$A$2:$A$64</c:f>
              <c:numCache>
                <c:formatCode>General</c:formatCode>
                <c:ptCount val="63"/>
                <c:pt idx="0">
                  <c:v>400</c:v>
                </c:pt>
                <c:pt idx="1">
                  <c:v>450</c:v>
                </c:pt>
                <c:pt idx="2">
                  <c:v>500</c:v>
                </c:pt>
                <c:pt idx="3">
                  <c:v>550</c:v>
                </c:pt>
                <c:pt idx="4">
                  <c:v>600</c:v>
                </c:pt>
                <c:pt idx="5">
                  <c:v>650</c:v>
                </c:pt>
                <c:pt idx="6">
                  <c:v>700</c:v>
                </c:pt>
                <c:pt idx="7">
                  <c:v>750</c:v>
                </c:pt>
                <c:pt idx="8">
                  <c:v>800</c:v>
                </c:pt>
                <c:pt idx="9">
                  <c:v>850</c:v>
                </c:pt>
                <c:pt idx="10">
                  <c:v>900</c:v>
                </c:pt>
                <c:pt idx="11">
                  <c:v>950</c:v>
                </c:pt>
                <c:pt idx="12">
                  <c:v>1000</c:v>
                </c:pt>
                <c:pt idx="13">
                  <c:v>1050</c:v>
                </c:pt>
                <c:pt idx="14">
                  <c:v>1100</c:v>
                </c:pt>
                <c:pt idx="15">
                  <c:v>1150</c:v>
                </c:pt>
                <c:pt idx="16">
                  <c:v>1200</c:v>
                </c:pt>
                <c:pt idx="17">
                  <c:v>1250</c:v>
                </c:pt>
                <c:pt idx="18">
                  <c:v>1300</c:v>
                </c:pt>
                <c:pt idx="19">
                  <c:v>1350</c:v>
                </c:pt>
                <c:pt idx="20">
                  <c:v>1400</c:v>
                </c:pt>
                <c:pt idx="21">
                  <c:v>1450</c:v>
                </c:pt>
                <c:pt idx="22">
                  <c:v>1500</c:v>
                </c:pt>
                <c:pt idx="23">
                  <c:v>1550</c:v>
                </c:pt>
                <c:pt idx="24">
                  <c:v>1600</c:v>
                </c:pt>
                <c:pt idx="25">
                  <c:v>1650</c:v>
                </c:pt>
                <c:pt idx="26">
                  <c:v>1700</c:v>
                </c:pt>
                <c:pt idx="27">
                  <c:v>1750</c:v>
                </c:pt>
                <c:pt idx="28">
                  <c:v>1800</c:v>
                </c:pt>
                <c:pt idx="29">
                  <c:v>1850</c:v>
                </c:pt>
                <c:pt idx="30">
                  <c:v>1900</c:v>
                </c:pt>
                <c:pt idx="31">
                  <c:v>1950</c:v>
                </c:pt>
                <c:pt idx="32">
                  <c:v>2000</c:v>
                </c:pt>
                <c:pt idx="33">
                  <c:v>2050</c:v>
                </c:pt>
                <c:pt idx="34">
                  <c:v>2100</c:v>
                </c:pt>
                <c:pt idx="35">
                  <c:v>2150</c:v>
                </c:pt>
                <c:pt idx="36">
                  <c:v>2200</c:v>
                </c:pt>
                <c:pt idx="37">
                  <c:v>2250</c:v>
                </c:pt>
                <c:pt idx="38">
                  <c:v>2300</c:v>
                </c:pt>
                <c:pt idx="39">
                  <c:v>2350</c:v>
                </c:pt>
                <c:pt idx="40">
                  <c:v>2400</c:v>
                </c:pt>
                <c:pt idx="41">
                  <c:v>2450</c:v>
                </c:pt>
                <c:pt idx="42">
                  <c:v>2500</c:v>
                </c:pt>
                <c:pt idx="43">
                  <c:v>2550</c:v>
                </c:pt>
                <c:pt idx="44">
                  <c:v>2600</c:v>
                </c:pt>
                <c:pt idx="45">
                  <c:v>2650</c:v>
                </c:pt>
                <c:pt idx="46">
                  <c:v>2700</c:v>
                </c:pt>
                <c:pt idx="47">
                  <c:v>2750</c:v>
                </c:pt>
                <c:pt idx="48">
                  <c:v>2800</c:v>
                </c:pt>
                <c:pt idx="49">
                  <c:v>2850</c:v>
                </c:pt>
                <c:pt idx="50">
                  <c:v>2900</c:v>
                </c:pt>
                <c:pt idx="51">
                  <c:v>2950</c:v>
                </c:pt>
                <c:pt idx="52">
                  <c:v>3000</c:v>
                </c:pt>
                <c:pt idx="53">
                  <c:v>3050</c:v>
                </c:pt>
                <c:pt idx="54">
                  <c:v>3100</c:v>
                </c:pt>
                <c:pt idx="55">
                  <c:v>3150</c:v>
                </c:pt>
                <c:pt idx="56">
                  <c:v>3200</c:v>
                </c:pt>
                <c:pt idx="57">
                  <c:v>3250</c:v>
                </c:pt>
                <c:pt idx="58">
                  <c:v>3300</c:v>
                </c:pt>
                <c:pt idx="59">
                  <c:v>3350</c:v>
                </c:pt>
                <c:pt idx="60">
                  <c:v>3400</c:v>
                </c:pt>
                <c:pt idx="61">
                  <c:v>3450</c:v>
                </c:pt>
                <c:pt idx="62">
                  <c:v>3500</c:v>
                </c:pt>
              </c:numCache>
            </c:numRef>
          </c:xVal>
          <c:yVal>
            <c:numRef>
              <c:f>Sheet1!$B$2:$B$64</c:f>
              <c:numCache>
                <c:formatCode>General</c:formatCode>
                <c:ptCount val="63"/>
                <c:pt idx="0">
                  <c:v>47.133333333333333</c:v>
                </c:pt>
                <c:pt idx="1">
                  <c:v>34.15</c:v>
                </c:pt>
                <c:pt idx="2">
                  <c:v>27.35</c:v>
                </c:pt>
                <c:pt idx="3">
                  <c:v>22.966666666666665</c:v>
                </c:pt>
                <c:pt idx="4">
                  <c:v>19.866666666666667</c:v>
                </c:pt>
                <c:pt idx="5">
                  <c:v>17.55</c:v>
                </c:pt>
                <c:pt idx="6">
                  <c:v>15.733333333333333</c:v>
                </c:pt>
                <c:pt idx="7">
                  <c:v>14.266666666666667</c:v>
                </c:pt>
                <c:pt idx="8">
                  <c:v>13.05</c:v>
                </c:pt>
                <c:pt idx="9">
                  <c:v>12.033333333333333</c:v>
                </c:pt>
                <c:pt idx="10">
                  <c:v>11.166666666666666</c:v>
                </c:pt>
                <c:pt idx="11">
                  <c:v>10.416666666666666</c:v>
                </c:pt>
                <c:pt idx="12">
                  <c:v>9.7666666666666675</c:v>
                </c:pt>
                <c:pt idx="13">
                  <c:v>9.1833333333333336</c:v>
                </c:pt>
                <c:pt idx="14">
                  <c:v>8.6833333333333336</c:v>
                </c:pt>
                <c:pt idx="15">
                  <c:v>8.2333333333333325</c:v>
                </c:pt>
                <c:pt idx="16">
                  <c:v>7.8166666666666664</c:v>
                </c:pt>
                <c:pt idx="17">
                  <c:v>7.45</c:v>
                </c:pt>
                <c:pt idx="18">
                  <c:v>7.1166666666666663</c:v>
                </c:pt>
                <c:pt idx="19">
                  <c:v>6.8</c:v>
                </c:pt>
                <c:pt idx="20">
                  <c:v>6.5166666666666666</c:v>
                </c:pt>
                <c:pt idx="21">
                  <c:v>6.2666666666666666</c:v>
                </c:pt>
                <c:pt idx="22">
                  <c:v>6.0166666666666666</c:v>
                </c:pt>
                <c:pt idx="23">
                  <c:v>5.8</c:v>
                </c:pt>
                <c:pt idx="24">
                  <c:v>5.6</c:v>
                </c:pt>
                <c:pt idx="25">
                  <c:v>5.4</c:v>
                </c:pt>
                <c:pt idx="26">
                  <c:v>5.2166666666666668</c:v>
                </c:pt>
                <c:pt idx="27">
                  <c:v>5.05</c:v>
                </c:pt>
                <c:pt idx="28">
                  <c:v>4.9000000000000004</c:v>
                </c:pt>
                <c:pt idx="29">
                  <c:v>4.75</c:v>
                </c:pt>
                <c:pt idx="30">
                  <c:v>4.6166666666666663</c:v>
                </c:pt>
                <c:pt idx="31">
                  <c:v>4.4833333333333334</c:v>
                </c:pt>
                <c:pt idx="32">
                  <c:v>4.3666666666666663</c:v>
                </c:pt>
                <c:pt idx="33">
                  <c:v>4.25</c:v>
                </c:pt>
                <c:pt idx="34">
                  <c:v>4.1333333333333337</c:v>
                </c:pt>
                <c:pt idx="35">
                  <c:v>4.0333333333333332</c:v>
                </c:pt>
                <c:pt idx="36">
                  <c:v>3.9333333333333331</c:v>
                </c:pt>
                <c:pt idx="37">
                  <c:v>3.8333333333333335</c:v>
                </c:pt>
                <c:pt idx="38">
                  <c:v>3.75</c:v>
                </c:pt>
                <c:pt idx="39">
                  <c:v>3.65</c:v>
                </c:pt>
                <c:pt idx="40">
                  <c:v>3.5666666666666669</c:v>
                </c:pt>
                <c:pt idx="41">
                  <c:v>3.5</c:v>
                </c:pt>
                <c:pt idx="42">
                  <c:v>3.4166666666666665</c:v>
                </c:pt>
                <c:pt idx="43">
                  <c:v>3.35</c:v>
                </c:pt>
                <c:pt idx="44">
                  <c:v>3.2833333333333332</c:v>
                </c:pt>
                <c:pt idx="45">
                  <c:v>3.2166666666666668</c:v>
                </c:pt>
                <c:pt idx="46">
                  <c:v>3.15</c:v>
                </c:pt>
                <c:pt idx="47">
                  <c:v>3.0833333333333335</c:v>
                </c:pt>
                <c:pt idx="48">
                  <c:v>3.0333333333333332</c:v>
                </c:pt>
                <c:pt idx="49">
                  <c:v>2.9666666666666668</c:v>
                </c:pt>
                <c:pt idx="50">
                  <c:v>2.9166666666666665</c:v>
                </c:pt>
                <c:pt idx="51">
                  <c:v>2.8666666666666667</c:v>
                </c:pt>
                <c:pt idx="52">
                  <c:v>2.8166666666666669</c:v>
                </c:pt>
                <c:pt idx="53">
                  <c:v>2.7666666666666666</c:v>
                </c:pt>
                <c:pt idx="54">
                  <c:v>2.7166666666666668</c:v>
                </c:pt>
                <c:pt idx="55">
                  <c:v>2.6666666666666665</c:v>
                </c:pt>
                <c:pt idx="56">
                  <c:v>2.6333333333333333</c:v>
                </c:pt>
                <c:pt idx="57">
                  <c:v>2.5833333333333335</c:v>
                </c:pt>
                <c:pt idx="58">
                  <c:v>2.5499999999999998</c:v>
                </c:pt>
                <c:pt idx="59">
                  <c:v>2.5</c:v>
                </c:pt>
                <c:pt idx="60">
                  <c:v>2.4666666666666668</c:v>
                </c:pt>
                <c:pt idx="61">
                  <c:v>2.4333333333333331</c:v>
                </c:pt>
                <c:pt idx="62">
                  <c:v>2.3833333333333333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8C1-4021-9260-375CC36474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350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sz="1300" b="0">
                    <a:solidFill>
                      <a:srgbClr val="5B6170"/>
                    </a:solidFill>
                    <a:latin typeface="Calibri"/>
                  </a:rPr>
                  <a:t>Potência elétrica do fogão (W)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9643912"/>
        <c:crosses val="autoZero"/>
        <c:crossBetween val="midCat"/>
        <c:majorUnit val="500"/>
      </c:valAx>
      <c:valAx>
        <c:axId val="-2129643912"/>
        <c:scaling>
          <c:orientation val="minMax"/>
          <c:max val="50"/>
          <c:min val="0"/>
        </c:scaling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300" b="0">
                    <a:solidFill>
                      <a:srgbClr val="5B6170"/>
                    </a:solidFill>
                    <a:latin typeface="Calibri"/>
                  </a:rPr>
                  <a:t>Tempo até ferver (min)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8940872"/>
        <c:crosses val="autoZero"/>
        <c:crossBetween val="midCat"/>
        <c:majorUnit val="1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1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314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Apresentar o grupo e o tema: uma panela com água num fogão de indução. A pergunta é quanto tempo a água leva para ferver, dependendo da potência do fogão.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Contexto: o fogão de indução aquece o próprio aço da panela. A panela está sem tampa, então perde calor para o ar. No experimento usamos o modo 150 °C, em que o fogão liga e desliga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Dois estoques: a energia interna da panela e a da água. Q1 é o calor da indução, Q2 vai da panela para a água, Q3 e Q4 são as perdas para o ar pelas paredes e pelo topo.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Pela 1ª Lei, a variação de temperatura de cada estoque é o calor que entra menos o que sai, dividido pela capacidade térmica. Os fluxos são escritos com resistências térmicas, como na latinha da Aula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dimensões, a massa de água e a temperatura ambiente foram medidas. A massa da panela foi calculada pelo volume de aço. Ajustamos dois valores: a potência média, porque o fogão liga e desliga, e o h do ar, que também carrega as perdas por evaporação e radiação.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 200 W de média, a água não ferveu: estabilizou perto de 66 °C, quando o calor que entra fica igual ao que sai. O modelo acompanha os dados com erro médio de 2,8 %. Corrigimos o tempo porque o cronômetro começou 7 minutos antes do aquecimento.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é o gráfico conclusivo: rodamos o odeint dezenas de vezes, uma para cada potência de 100 a 3500 W. Abaixo de cerca de 400 W a água não ferve em 2 horas, porque as perdas igualam o calor recebido. O tempo cai rápido até uns 1500 W; depois o ganho é pequeno.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Conclusões: com a panela sem tampa, existe uma potência mínima para ferver; acima de uns 2000 W, aumentar a potência quase não ajuda. O modelo reproduz o experimento com 2,8 % de erro médio. Limitação: evaporação e radiação estão embutidas no h do 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inel do fogão"/>
          <p:cNvSpPr/>
          <p:nvPr/>
        </p:nvSpPr>
        <p:spPr>
          <a:xfrm>
            <a:off x="6400800" y="0"/>
            <a:ext cx="57908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nel 1"/>
          <p:cNvSpPr/>
          <p:nvPr/>
        </p:nvSpPr>
        <p:spPr>
          <a:xfrm>
            <a:off x="8796528" y="2926080"/>
            <a:ext cx="1005840" cy="1005840"/>
          </a:xfrm>
          <a:prstGeom prst="ellipse">
            <a:avLst/>
          </a:prstGeom>
          <a:noFill/>
          <a:ln w="28575">
            <a:solidFill>
              <a:srgbClr val="F2711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nel 2"/>
          <p:cNvSpPr/>
          <p:nvPr/>
        </p:nvSpPr>
        <p:spPr>
          <a:xfrm>
            <a:off x="8385048" y="2514600"/>
            <a:ext cx="1828800" cy="1828800"/>
          </a:xfrm>
          <a:prstGeom prst="ellipse">
            <a:avLst/>
          </a:prstGeom>
          <a:noFill/>
          <a:ln w="28575">
            <a:solidFill>
              <a:srgbClr val="F2711C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nel 3"/>
          <p:cNvSpPr/>
          <p:nvPr/>
        </p:nvSpPr>
        <p:spPr>
          <a:xfrm>
            <a:off x="7973568" y="2103120"/>
            <a:ext cx="2651760" cy="2651760"/>
          </a:xfrm>
          <a:prstGeom prst="ellipse">
            <a:avLst/>
          </a:prstGeom>
          <a:noFill/>
          <a:ln w="28575">
            <a:solidFill>
              <a:srgbClr val="F2711C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el 4"/>
          <p:cNvSpPr/>
          <p:nvPr/>
        </p:nvSpPr>
        <p:spPr>
          <a:xfrm>
            <a:off x="7562088" y="1691640"/>
            <a:ext cx="3474720" cy="3474720"/>
          </a:xfrm>
          <a:prstGeom prst="ellipse">
            <a:avLst/>
          </a:prstGeom>
          <a:noFill/>
          <a:ln w="28575">
            <a:solidFill>
              <a:srgbClr val="F2711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nel 5"/>
          <p:cNvSpPr/>
          <p:nvPr/>
        </p:nvSpPr>
        <p:spPr>
          <a:xfrm>
            <a:off x="7150608" y="1280160"/>
            <a:ext cx="4297680" cy="4297680"/>
          </a:xfrm>
          <a:prstGeom prst="ellipse">
            <a:avLst/>
          </a:prstGeom>
          <a:noFill/>
          <a:ln w="28575">
            <a:solidFill>
              <a:srgbClr val="F2711C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Anel 6"/>
          <p:cNvSpPr/>
          <p:nvPr/>
        </p:nvSpPr>
        <p:spPr>
          <a:xfrm>
            <a:off x="6739128" y="868680"/>
            <a:ext cx="5120640" cy="5120640"/>
          </a:xfrm>
          <a:prstGeom prst="ellipse">
            <a:avLst/>
          </a:prstGeom>
          <a:noFill/>
          <a:ln w="28575">
            <a:solidFill>
              <a:srgbClr val="F2711C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entro da bobina"/>
          <p:cNvSpPr/>
          <p:nvPr/>
        </p:nvSpPr>
        <p:spPr>
          <a:xfrm>
            <a:off x="8796528" y="2926080"/>
            <a:ext cx="1005840" cy="100584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711C"/>
                </a:solidFill>
                <a:latin typeface="Calibri"/>
              </a:rPr>
              <a:t>PROJETO 2 — TERMODINÂMICA</a:t>
            </a:r>
          </a:p>
        </p:txBody>
      </p:sp>
      <p:sp>
        <p:nvSpPr>
          <p:cNvPr id="11" name="Título"/>
          <p:cNvSpPr txBox="1"/>
          <p:nvPr/>
        </p:nvSpPr>
        <p:spPr>
          <a:xfrm>
            <a:off x="685800" y="2148840"/>
            <a:ext cx="55778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14171F"/>
                </a:solidFill>
                <a:latin typeface="Calibri"/>
              </a:rPr>
              <a:t>Panela no fogão</a:t>
            </a:r>
          </a:p>
          <a:p>
            <a:pPr algn="l"/>
            <a:r>
              <a:rPr sz="4400" b="1" i="0">
                <a:solidFill>
                  <a:srgbClr val="F2711C"/>
                </a:solidFill>
                <a:latin typeface="Calibri"/>
              </a:rPr>
              <a:t>de indução</a:t>
            </a:r>
          </a:p>
        </p:txBody>
      </p:sp>
      <p:sp>
        <p:nvSpPr>
          <p:cNvPr id="12" name="Subtítulo"/>
          <p:cNvSpPr txBox="1"/>
          <p:nvPr/>
        </p:nvSpPr>
        <p:spPr>
          <a:xfrm>
            <a:off x="685800" y="3840480"/>
            <a:ext cx="5486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5B6170"/>
                </a:solidFill>
                <a:latin typeface="Calibri"/>
              </a:rPr>
              <a:t>Quanto tempo a água leva para ferver?</a:t>
            </a:r>
          </a:p>
        </p:txBody>
      </p:sp>
      <p:sp>
        <p:nvSpPr>
          <p:cNvPr id="13" name="Integrantes"/>
          <p:cNvSpPr txBox="1"/>
          <p:nvPr/>
        </p:nvSpPr>
        <p:spPr>
          <a:xfrm>
            <a:off x="685800" y="525780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Grupo 10: 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Antonio Dias, Marcos Rodrigues e Pedro Toscano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Modelagem e Simulação do Mundo Físico — Insper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inel escuro"/>
          <p:cNvSpPr/>
          <p:nvPr/>
        </p:nvSpPr>
        <p:spPr>
          <a:xfrm>
            <a:off x="5257800" y="0"/>
            <a:ext cx="69338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PERGUNTA E CONTEXTO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O sistema e a pergunta</a:t>
            </a:r>
          </a:p>
        </p:txBody>
      </p:sp>
      <p:sp>
        <p:nvSpPr>
          <p:cNvPr id="5" name="Cartão da pergunta"/>
          <p:cNvSpPr/>
          <p:nvPr/>
        </p:nvSpPr>
        <p:spPr>
          <a:xfrm>
            <a:off x="548640" y="1463040"/>
            <a:ext cx="4389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3931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2711C"/>
                </a:solidFill>
                <a:latin typeface="Calibri"/>
              </a:rPr>
              <a:t>Pergunta</a:t>
            </a:r>
          </a:p>
          <a:p>
            <a:pPr algn="l">
              <a:spcBef>
                <a:spcPts val="200"/>
              </a:spcBef>
            </a:pPr>
            <a:r>
              <a:rPr sz="1900" b="1" i="0">
                <a:solidFill>
                  <a:srgbClr val="14171F"/>
                </a:solidFill>
                <a:latin typeface="Calibri"/>
              </a:rPr>
              <a:t>Quanto tempo 1,1 kg de água leva para ferver em função da potência do fogão?</a:t>
            </a:r>
          </a:p>
        </p:txBody>
      </p:sp>
      <p:sp>
        <p:nvSpPr>
          <p:cNvPr id="7" name="Número 01"/>
          <p:cNvSpPr/>
          <p:nvPr/>
        </p:nvSpPr>
        <p:spPr>
          <a:xfrm>
            <a:off x="548640" y="3383280"/>
            <a:ext cx="502920" cy="50292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346704"/>
            <a:ext cx="3657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4171F"/>
                </a:solidFill>
                <a:latin typeface="Calibri"/>
              </a:rPr>
              <a:t>Indução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O campo magnético da bobina esquenta direto o aço da panela.</a:t>
            </a:r>
          </a:p>
        </p:txBody>
      </p:sp>
      <p:sp>
        <p:nvSpPr>
          <p:cNvPr id="9" name="Número 02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98264"/>
            <a:ext cx="3657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4171F"/>
                </a:solidFill>
                <a:latin typeface="Calibri"/>
              </a:rPr>
              <a:t>Panela sem tampa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Perde calor para o ar pelas paredes e pela superfície da água.</a:t>
            </a:r>
          </a:p>
        </p:txBody>
      </p:sp>
      <p:sp>
        <p:nvSpPr>
          <p:cNvPr id="11" name="Número 03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449824"/>
            <a:ext cx="3657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4171F"/>
                </a:solidFill>
                <a:latin typeface="Calibri"/>
              </a:rPr>
              <a:t>Fogão liga e desliga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No modo 150 °C, a potência que chega à panela é uma média.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45720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ESQUEMA FÍSICO</a:t>
            </a:r>
          </a:p>
        </p:txBody>
      </p:sp>
      <p:sp>
        <p:nvSpPr>
          <p:cNvPr id="14" name="Moldura do esquema"/>
          <p:cNvSpPr/>
          <p:nvPr/>
        </p:nvSpPr>
        <p:spPr>
          <a:xfrm>
            <a:off x="5623560" y="868680"/>
            <a:ext cx="62179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Esquema físico" descr="esquema_fi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97280"/>
            <a:ext cx="5760720" cy="40325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23560" y="5669280"/>
            <a:ext cx="1600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>
                <a:solidFill>
                  <a:srgbClr val="F2711C"/>
                </a:solidFill>
                <a:latin typeface="Calibri"/>
              </a:rPr>
              <a:t>85 %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5669280"/>
            <a:ext cx="4754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da energia elétrica vira calor na panela (rendimento típico da indução)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O modelo: dois estoques de energia</a:t>
            </a:r>
          </a:p>
        </p:txBody>
      </p:sp>
      <p:pic>
        <p:nvPicPr>
          <p:cNvPr id="4" name="Diagrama de estoques e fluxos" descr="diagrama_estoques_flux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223760" cy="4714454"/>
          </a:xfrm>
          <a:prstGeom prst="rect">
            <a:avLst/>
          </a:prstGeom>
        </p:spPr>
      </p:pic>
      <p:sp>
        <p:nvSpPr>
          <p:cNvPr id="5" name="Cartão das hipóteses"/>
          <p:cNvSpPr/>
          <p:nvPr/>
        </p:nvSpPr>
        <p:spPr>
          <a:xfrm>
            <a:off x="8001000" y="1508760"/>
            <a:ext cx="3611880" cy="47548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171F"/>
                </a:solidFill>
                <a:latin typeface="Calibri"/>
              </a:rPr>
              <a:t>Hipóteses</a:t>
            </a:r>
          </a:p>
        </p:txBody>
      </p:sp>
      <p:sp>
        <p:nvSpPr>
          <p:cNvPr id="7" name="Marcador 1"/>
          <p:cNvSpPr/>
          <p:nvPr/>
        </p:nvSpPr>
        <p:spPr>
          <a:xfrm>
            <a:off x="8321040" y="2450592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13648" y="2377440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Temperatura uniforme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na panela (Tp) e na água (Ta)</a:t>
            </a:r>
          </a:p>
        </p:txBody>
      </p:sp>
      <p:sp>
        <p:nvSpPr>
          <p:cNvPr id="9" name="Marcador 2"/>
          <p:cNvSpPr/>
          <p:nvPr/>
        </p:nvSpPr>
        <p:spPr>
          <a:xfrm>
            <a:off x="8321040" y="3383280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13648" y="3310128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Sem convecção na água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calor passa por condução na parede</a:t>
            </a:r>
          </a:p>
        </p:txBody>
      </p:sp>
      <p:sp>
        <p:nvSpPr>
          <p:cNvPr id="11" name="Marcador 3"/>
          <p:cNvSpPr/>
          <p:nvPr/>
        </p:nvSpPr>
        <p:spPr>
          <a:xfrm>
            <a:off x="8321040" y="4315968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13648" y="4242816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Fundo não perde calor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apoiado no fogão</a:t>
            </a:r>
          </a:p>
        </p:txBody>
      </p:sp>
      <p:sp>
        <p:nvSpPr>
          <p:cNvPr id="13" name="Marcador 4"/>
          <p:cNvSpPr/>
          <p:nvPr/>
        </p:nvSpPr>
        <p:spPr>
          <a:xfrm>
            <a:off x="8321040" y="5248656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13648" y="5175504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Sem radiação e evaporação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como termos separados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Equações e resistências térmicas</a:t>
            </a:r>
          </a:p>
        </p:txBody>
      </p:sp>
      <p:sp>
        <p:nvSpPr>
          <p:cNvPr id="4" name="Moldura dos circuitos"/>
          <p:cNvSpPr/>
          <p:nvPr/>
        </p:nvSpPr>
        <p:spPr>
          <a:xfrm>
            <a:off x="548640" y="1554480"/>
            <a:ext cx="603504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Circuitos térmicos" descr="circuitos_termic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64208"/>
            <a:ext cx="5852160" cy="3043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66360"/>
            <a:ext cx="6035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Resistências: </a:t>
            </a:r>
            <a:r>
              <a:rPr sz="1500" b="0" i="0">
                <a:solidFill>
                  <a:srgbClr val="5B6170"/>
                </a:solidFill>
                <a:latin typeface="Calibri"/>
              </a:rPr>
              <a:t>condução na parede 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(R₂, R₃)</a:t>
            </a:r>
            <a:r>
              <a:rPr sz="1500" b="0" i="0">
                <a:solidFill>
                  <a:srgbClr val="5B6170"/>
                </a:solidFill>
                <a:latin typeface="Calibri"/>
              </a:rPr>
              <a:t> e convecção no ar 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(R₁, R₄)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5B6170"/>
                </a:solidFill>
                <a:latin typeface="Calibri"/>
              </a:rPr>
              <a:t>Leis de Fourier e de Newton do resfriamento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Equações"/>
              <p:cNvSpPr txBox="1"/>
              <p:nvPr/>
            </p:nvSpPr>
            <p:spPr>
              <a:xfrm>
                <a:off x="7086600" y="1417320"/>
                <a:ext cx="4663440" cy="493776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>
                  <a:spcBef>
                    <a:spcPts val="1400"/>
                  </a:spcBef>
                  <a:buNone/>
                </a:pPr>
                <a:r>
                  <a:rPr lang="pt-BR" sz="1300" b="1">
                    <a:solidFill>
                      <a:srgbClr val="F2711C"/>
                    </a:solidFill>
                    <a:latin typeface="Calibri"/>
                  </a:rPr>
                  <a:t>1ª Lei da Termodinâmica (para o odeint)</a:t>
                </a:r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300" b="1">
                  <a:solidFill>
                    <a:srgbClr val="F2711C"/>
                  </a:solidFill>
                  <a:latin typeface="Calibri"/>
                </a:endParaRPr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  <a:p>
                <a:pPr algn="l">
                  <a:spcBef>
                    <a:spcPts val="1400"/>
                  </a:spcBef>
                  <a:buNone/>
                </a:pPr>
                <a:r>
                  <a:rPr lang="pt-BR" sz="1300" b="1">
                    <a:solidFill>
                      <a:srgbClr val="F2711C"/>
                    </a:solidFill>
                    <a:latin typeface="Calibri"/>
                  </a:rPr>
                  <a:t>Fluxos de calor</a:t>
                </a:r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300" b="1">
                  <a:solidFill>
                    <a:srgbClr val="F2711C"/>
                  </a:solidFill>
                  <a:latin typeface="Calibri"/>
                </a:endParaRPr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𝑎𝑚𝑏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𝑎𝑚𝑏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</p:txBody>
          </p:sp>
        </mc:Choice>
        <mc:Fallback xmlns="">
          <p:sp>
            <p:nvSpPr>
              <p:cNvPr id="7" name="Equações"/>
              <p:cNvSpPr txBox="1"/>
              <p:nvPr/>
            </p:nvSpPr>
            <p:spPr>
              <a:xfrm>
                <a:off x="7086600" y="1417320"/>
                <a:ext cx="4663440" cy="493776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r>
                  <a:rPr lang="pt-BR"/>
                  <a:t>Equações do modelo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Parâmetros: medidos, calculados e ajustados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7ED6"/>
                </a:solidFill>
                <a:latin typeface="Calibri"/>
              </a:rPr>
              <a:t>MEDIDOS</a:t>
            </a:r>
          </a:p>
        </p:txBody>
      </p:sp>
      <p:sp>
        <p:nvSpPr>
          <p:cNvPr id="5" name="Medido 1"/>
          <p:cNvSpPr/>
          <p:nvPr/>
        </p:nvSpPr>
        <p:spPr>
          <a:xfrm>
            <a:off x="548640" y="1920240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160 mm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diâmetro da panela</a:t>
            </a:r>
          </a:p>
        </p:txBody>
      </p:sp>
      <p:sp>
        <p:nvSpPr>
          <p:cNvPr id="7" name="Medido 2"/>
          <p:cNvSpPr/>
          <p:nvPr/>
        </p:nvSpPr>
        <p:spPr>
          <a:xfrm>
            <a:off x="548640" y="2807208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89864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81,2 mm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altura</a:t>
            </a:r>
          </a:p>
        </p:txBody>
      </p:sp>
      <p:sp>
        <p:nvSpPr>
          <p:cNvPr id="9" name="Medido 3"/>
          <p:cNvSpPr/>
          <p:nvPr/>
        </p:nvSpPr>
        <p:spPr>
          <a:xfrm>
            <a:off x="548640" y="3694176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785615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0,54 mm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espessura da parede</a:t>
            </a:r>
          </a:p>
        </p:txBody>
      </p:sp>
      <p:sp>
        <p:nvSpPr>
          <p:cNvPr id="11" name="Medido 4"/>
          <p:cNvSpPr/>
          <p:nvPr/>
        </p:nvSpPr>
        <p:spPr>
          <a:xfrm>
            <a:off x="548640" y="4581144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3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1,123 kg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massa de água</a:t>
            </a:r>
          </a:p>
        </p:txBody>
      </p:sp>
      <p:sp>
        <p:nvSpPr>
          <p:cNvPr id="13" name="Medido 5"/>
          <p:cNvSpPr/>
          <p:nvPr/>
        </p:nvSpPr>
        <p:spPr>
          <a:xfrm>
            <a:off x="548640" y="5468112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559552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18,9 °C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temperatura ambiente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5B6170"/>
                </a:solidFill>
                <a:latin typeface="Calibri"/>
              </a:rPr>
              <a:t>CALCULADO</a:t>
            </a:r>
          </a:p>
        </p:txBody>
      </p:sp>
      <p:sp>
        <p:nvSpPr>
          <p:cNvPr id="16" name="Cartão CALCULADO"/>
          <p:cNvSpPr/>
          <p:nvPr/>
        </p:nvSpPr>
        <p:spPr>
          <a:xfrm>
            <a:off x="4434840" y="1920240"/>
            <a:ext cx="3337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9159" y="219456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5B6170"/>
                </a:solidFill>
                <a:latin typeface="Calibri"/>
              </a:rPr>
              <a:t>0,75 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28803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massa da panela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3474720"/>
            <a:ext cx="28346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Volume de aço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parede lateral + fundo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14171F"/>
                </a:solidFill>
                <a:latin typeface="Calibri"/>
              </a:rPr>
              <a:t>Fundo: 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≈ 3,7 mm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(altura externa − profundidade)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14171F"/>
                </a:solidFill>
                <a:latin typeface="Calibri"/>
              </a:rPr>
              <a:t>Densidade do inox: 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7900 kg/m³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2711C"/>
                </a:solidFill>
                <a:latin typeface="Calibri"/>
              </a:rPr>
              <a:t>AJUSTADOS</a:t>
            </a:r>
          </a:p>
        </p:txBody>
      </p:sp>
      <p:sp>
        <p:nvSpPr>
          <p:cNvPr id="21" name="Cartão AJUSTADOS"/>
          <p:cNvSpPr/>
          <p:nvPr/>
        </p:nvSpPr>
        <p:spPr>
          <a:xfrm>
            <a:off x="8321040" y="1920240"/>
            <a:ext cx="3337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0" y="219456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2711C"/>
                </a:solidFill>
                <a:latin typeface="Calibri"/>
              </a:rPr>
              <a:t>200 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8803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potência média do fogão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337560"/>
            <a:ext cx="2834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Ligado: 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220 V · 3,2 A / √2 ≈ 498 W</a:t>
            </a:r>
          </a:p>
          <a:p>
            <a:pPr algn="l">
              <a:spcBef>
                <a:spcPts val="3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liga e desliga: ligado ≈ 40 % do tempo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57200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2711C"/>
                </a:solidFill>
                <a:latin typeface="Calibri"/>
              </a:rPr>
              <a:t>60 W/(m²·K)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07492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convecção no ar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acima da convecção natural: inclui evaporação e radiação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VALIDAÇÃO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Validação: modelo × experimento</a:t>
            </a:r>
          </a:p>
        </p:txBody>
      </p:sp>
      <p:graphicFrame>
        <p:nvGraphicFramePr>
          <p:cNvPr id="4" name="Gráfico da validação"/>
          <p:cNvGraphicFramePr>
            <a:graphicFrameLocks noGrp="1"/>
          </p:cNvGraphicFramePr>
          <p:nvPr/>
        </p:nvGraphicFramePr>
        <p:xfrm>
          <a:off x="457200" y="1371600"/>
          <a:ext cx="740664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artão do erro"/>
          <p:cNvSpPr/>
          <p:nvPr/>
        </p:nvSpPr>
        <p:spPr>
          <a:xfrm>
            <a:off x="8183879" y="150876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58200" y="164592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2,8 %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200" y="26517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erro percentual médio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máximo: 6,8 % (aos 11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3749039"/>
            <a:ext cx="34747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Equilíbrio térmico</a:t>
            </a:r>
          </a:p>
          <a:p>
            <a:pPr algn="l">
              <a:spcBef>
                <a:spcPts val="3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a água para de esquentar perto de 65 °C (aos 89 min: 64,5 °C no modelo × 65,9 °C medido)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4800600"/>
            <a:ext cx="3474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Tempo corrigido</a:t>
            </a:r>
          </a:p>
          <a:p>
            <a:pPr algn="l">
              <a:spcBef>
                <a:spcPts val="3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o cronômetro começou 7 min antes do aquecimento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RESULTADOS E CONCLUSÃO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Resultado: tempo até ferver × potência</a:t>
            </a:r>
          </a:p>
        </p:txBody>
      </p:sp>
      <p:graphicFrame>
        <p:nvGraphicFramePr>
          <p:cNvPr id="4" name="Gráfico conclusivo"/>
          <p:cNvGraphicFramePr>
            <a:graphicFrameLocks noGrp="1"/>
          </p:cNvGraphicFramePr>
          <p:nvPr/>
        </p:nvGraphicFramePr>
        <p:xfrm>
          <a:off x="457200" y="1371600"/>
          <a:ext cx="740664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aixa sem fervura"/>
          <p:cNvSpPr/>
          <p:nvPr/>
        </p:nvSpPr>
        <p:spPr>
          <a:xfrm>
            <a:off x="1161288" y="1536192"/>
            <a:ext cx="679268" cy="4261104"/>
          </a:xfrm>
          <a:prstGeom prst="rect">
            <a:avLst/>
          </a:prstGeom>
          <a:solidFill>
            <a:srgbClr val="E6E8E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16152" y="4892040"/>
            <a:ext cx="6244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B6170"/>
                </a:solidFill>
                <a:latin typeface="Calibri"/>
              </a:rPr>
              <a:t>não ferve</a:t>
            </a:r>
          </a:p>
          <a:p>
            <a:pPr algn="ctr"/>
            <a:r>
              <a:rPr sz="1200" b="1" i="0">
                <a:solidFill>
                  <a:srgbClr val="5B6170"/>
                </a:solidFill>
                <a:latin typeface="Calibri"/>
              </a:rPr>
              <a:t>em 2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5544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171F"/>
                </a:solidFill>
                <a:latin typeface="Calibri"/>
              </a:rPr>
              <a:t>Leitura do gráfico</a:t>
            </a:r>
          </a:p>
        </p:txBody>
      </p:sp>
      <p:sp>
        <p:nvSpPr>
          <p:cNvPr id="8" name="Destaque 1"/>
          <p:cNvSpPr/>
          <p:nvPr/>
        </p:nvSpPr>
        <p:spPr>
          <a:xfrm>
            <a:off x="8183879" y="2103120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221284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400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mínimo para ferver em até 2 h (47 min)</a:t>
            </a:r>
          </a:p>
        </p:txBody>
      </p:sp>
      <p:sp>
        <p:nvSpPr>
          <p:cNvPr id="10" name="Destaque 2"/>
          <p:cNvSpPr/>
          <p:nvPr/>
        </p:nvSpPr>
        <p:spPr>
          <a:xfrm>
            <a:off x="8183879" y="3063239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317296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1000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9,8 min</a:t>
            </a:r>
          </a:p>
        </p:txBody>
      </p:sp>
      <p:sp>
        <p:nvSpPr>
          <p:cNvPr id="12" name="Destaque 3"/>
          <p:cNvSpPr/>
          <p:nvPr/>
        </p:nvSpPr>
        <p:spPr>
          <a:xfrm>
            <a:off x="8183879" y="4023360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413308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2000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4,4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074920"/>
            <a:ext cx="34747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Acima de ~2000 W, </a:t>
            </a:r>
            <a:r>
              <a:rPr sz="1500" b="0" i="0">
                <a:solidFill>
                  <a:srgbClr val="5B6170"/>
                </a:solidFill>
                <a:latin typeface="Calibri"/>
              </a:rPr>
              <a:t>dobrar a potência economiza menos de 2 min.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7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el 1"/>
          <p:cNvSpPr/>
          <p:nvPr/>
        </p:nvSpPr>
        <p:spPr>
          <a:xfrm>
            <a:off x="10698480" y="5486400"/>
            <a:ext cx="1097280" cy="1097280"/>
          </a:xfrm>
          <a:prstGeom prst="ellipse">
            <a:avLst/>
          </a:prstGeom>
          <a:noFill/>
          <a:ln w="28575">
            <a:solidFill>
              <a:srgbClr val="F2711C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nel 2"/>
          <p:cNvSpPr/>
          <p:nvPr/>
        </p:nvSpPr>
        <p:spPr>
          <a:xfrm>
            <a:off x="10241280" y="5029200"/>
            <a:ext cx="2011680" cy="2011680"/>
          </a:xfrm>
          <a:prstGeom prst="ellipse">
            <a:avLst/>
          </a:prstGeom>
          <a:noFill/>
          <a:ln w="28575">
            <a:solidFill>
              <a:srgbClr val="F2711C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nel 3"/>
          <p:cNvSpPr/>
          <p:nvPr/>
        </p:nvSpPr>
        <p:spPr>
          <a:xfrm>
            <a:off x="9784080" y="4572000"/>
            <a:ext cx="2926080" cy="2926080"/>
          </a:xfrm>
          <a:prstGeom prst="ellipse">
            <a:avLst/>
          </a:prstGeom>
          <a:noFill/>
          <a:ln w="28575">
            <a:solidFill>
              <a:srgbClr val="F2711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nel 4"/>
          <p:cNvSpPr/>
          <p:nvPr/>
        </p:nvSpPr>
        <p:spPr>
          <a:xfrm>
            <a:off x="9326880" y="4114800"/>
            <a:ext cx="3840480" cy="3840480"/>
          </a:xfrm>
          <a:prstGeom prst="ellipse">
            <a:avLst/>
          </a:prstGeom>
          <a:noFill/>
          <a:ln w="28575">
            <a:solidFill>
              <a:srgbClr val="F2711C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RESULTADOS E CONCLUSÃO</a:t>
            </a:r>
          </a:p>
        </p:txBody>
      </p:sp>
      <p:sp>
        <p:nvSpPr>
          <p:cNvPr id="7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Conclusões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≈ 400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potência média mínima para 1,1 kg de água ferver em até 2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01168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2000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30632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 partir daí, mais potência quase não reduz o tempo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9" y="201168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2,8 %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30632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erro médio entre o modelo e o experimento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8778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Limitações: </a:t>
            </a:r>
            <a:r>
              <a:rPr sz="1500" b="0" i="0">
                <a:solidFill>
                  <a:srgbClr val="B8BECC"/>
                </a:solidFill>
                <a:latin typeface="Calibri"/>
              </a:rPr>
              <a:t>evaporação e radiação entram só pelo h do ar ajustado; a potência média foi ajustada aos dados.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941</Words>
  <Application>Microsoft Office PowerPoint</Application>
  <PresentationFormat>Widescreen</PresentationFormat>
  <Paragraphs>113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 Math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Antonio de Souza Dias</cp:lastModifiedBy>
  <cp:revision>2</cp:revision>
  <dcterms:created xsi:type="dcterms:W3CDTF">2013-01-27T09:14:16Z</dcterms:created>
  <dcterms:modified xsi:type="dcterms:W3CDTF">2026-10-20T21:02:26Z</dcterms:modified>
  <cp:category/>
</cp:coreProperties>
</file>